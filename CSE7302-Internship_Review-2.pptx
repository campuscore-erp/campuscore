
<file path=[Content_Types].xml><?xml version="1.0" encoding="utf-8"?>
<Types xmlns="http://schemas.openxmlformats.org/package/2006/content-types">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70" r:id="rId5"/>
    <p:sldId id="261" r:id="rId6"/>
    <p:sldId id="262" r:id="rId7"/>
    <p:sldId id="263" r:id="rId8"/>
    <p:sldId id="264" r:id="rId9"/>
    <p:sldId id="265" r:id="rId10"/>
    <p:sldId id="271" r:id="rId11"/>
    <p:sldId id="272" r:id="rId12"/>
    <p:sldId id="273" r:id="rId13"/>
    <p:sldId id="274" r:id="rId14"/>
    <p:sldId id="275" r:id="rId15"/>
    <p:sldId id="266"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3" autoAdjust="0"/>
    <p:restoredTop sz="94660"/>
  </p:normalViewPr>
  <p:slideViewPr>
    <p:cSldViewPr snapToGrid="0">
      <p:cViewPr varScale="1">
        <p:scale>
          <a:sx n="74" d="100"/>
          <a:sy n="74" d="100"/>
        </p:scale>
        <p:origin x="6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pPr algn="l" rtl="0"/>
          <a:r>
            <a:rPr lang="en-US" dirty="0">
              <a:latin typeface="Times New Roman" panose="02020603050405020304"/>
              <a:cs typeface="Times New Roman" panose="02020603050405020304"/>
            </a:rPr>
            <a:t>Review </a:t>
          </a:r>
          <a:r>
            <a:rPr lang="en-US" dirty="0">
              <a:latin typeface="Times New Roman" panose="02020603050405020304"/>
              <a:ea typeface="Calibri Light" panose="020F0302020204030204"/>
              <a:cs typeface="Times New Roman" panose="02020603050405020304"/>
            </a:rPr>
            <a:t>1</a:t>
          </a:r>
          <a:br>
            <a:rPr lang="en-US" dirty="0">
              <a:solidFill>
                <a:srgbClr val="000000"/>
              </a:solidFill>
              <a:latin typeface="Times New Roman" panose="02020603050405020304"/>
              <a:ea typeface="Calibri Light" panose="020F0302020204030204"/>
              <a:cs typeface="Times New Roman" panose="02020603050405020304"/>
            </a:rPr>
          </a:br>
          <a:endParaRPr lang="en-US" dirty="0">
            <a:solidFill>
              <a:srgbClr val="000000"/>
            </a:solidFill>
            <a:latin typeface="Times New Roman" panose="02020603050405020304"/>
            <a:ea typeface="Calibri Light" panose="020F0302020204030204"/>
            <a:cs typeface="Times New Roman" panose="02020603050405020304"/>
          </a:endParaRPr>
        </a:p>
      </dgm:t>
    </dgm:pt>
    <dgm:pt modelId="{080A6B9D-C27D-4227-AC65-3C97878D78C4}" cxnId="{8CB593F6-6C5D-4606-B959-3E27F9872EC1}" type="parTrans">
      <dgm:prSet/>
      <dgm:spPr/>
      <dgm:t>
        <a:bodyPr/>
        <a:lstStyle/>
        <a:p>
          <a:endParaRPr lang="en-US"/>
        </a:p>
      </dgm:t>
    </dgm:pt>
    <dgm:pt modelId="{19B27CEC-4BAD-44A7-A9A7-B7A8B23ADCFD}" cxnId="{8CB593F6-6C5D-4606-B959-3E27F9872EC1}" type="sibTrans">
      <dgm:prSet/>
      <dgm:spPr/>
      <dgm:t>
        <a:bodyPr/>
        <a:lstStyle/>
        <a:p>
          <a:endParaRPr lang="en-US"/>
        </a:p>
      </dgm:t>
    </dgm:pt>
    <dgm:pt modelId="{7B3055AA-BF7C-46D0-9A9E-60087B9F57B4}">
      <dgm:prSet phldrT="[Text]"/>
      <dgm:spPr/>
      <dgm:t>
        <a:bodyPr/>
        <a:lstStyle/>
        <a:p>
          <a:r>
            <a:rPr lang="en-US" dirty="0">
              <a:latin typeface="Times New Roman" panose="02020603050405020304"/>
              <a:cs typeface="Times New Roman" panose="02020603050405020304"/>
            </a:rPr>
            <a:t>Review 2</a:t>
          </a:r>
        </a:p>
      </dgm:t>
    </dgm:pt>
    <dgm:pt modelId="{F772EF41-D2BB-4368-8327-B4E332165F48}" cxnId="{6C7D4BBB-EED6-4011-9FBC-87F683D5B245}" type="parTrans">
      <dgm:prSet/>
      <dgm:spPr/>
      <dgm:t>
        <a:bodyPr/>
        <a:lstStyle/>
        <a:p>
          <a:endParaRPr lang="en-US"/>
        </a:p>
      </dgm:t>
    </dgm:pt>
    <dgm:pt modelId="{B81593E2-4CAC-4783-8D2D-E9DDD236A942}" cxnId="{6C7D4BBB-EED6-4011-9FBC-87F683D5B245}" type="sibTrans">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cxnId="{D1BA1DD0-A52A-47BF-962D-9810C87E1576}" type="parTrans">
      <dgm:prSet/>
      <dgm:spPr/>
      <dgm:t>
        <a:bodyPr/>
        <a:lstStyle/>
        <a:p>
          <a:endParaRPr lang="en-US"/>
        </a:p>
      </dgm:t>
    </dgm:pt>
    <dgm:pt modelId="{2868AD8D-4E38-46CE-A972-709857BF40AC}" cxnId="{D1BA1DD0-A52A-47BF-962D-9810C87E1576}" type="sibTrans">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cxnId="{AA17007A-110D-43AE-B6F2-DF2DF885F2E2}" type="parTrans">
      <dgm:prSet/>
      <dgm:spPr/>
      <dgm:t>
        <a:bodyPr/>
        <a:lstStyle/>
        <a:p>
          <a:endParaRPr lang="en-US"/>
        </a:p>
      </dgm:t>
    </dgm:pt>
    <dgm:pt modelId="{98BDB650-3386-4D3D-8E80-609010499291}" cxnId="{AA17007A-110D-43AE-B6F2-DF2DF885F2E2}" type="sibTrans">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cxnId="{DA8CD5E8-B2EE-41E4-8EC6-CFB41D688F68}" type="parTrans">
      <dgm:prSet/>
      <dgm:spPr/>
      <dgm:t>
        <a:bodyPr/>
        <a:lstStyle/>
        <a:p>
          <a:endParaRPr lang="en-US"/>
        </a:p>
      </dgm:t>
    </dgm:pt>
    <dgm:pt modelId="{5E9E6A6F-635A-4791-A107-01E95B62EA08}" cxnId="{DA8CD5E8-B2EE-41E4-8EC6-CFB41D688F68}" type="sibTrans">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cxnId="{521FD508-C5FD-4804-AFDC-D1FF9945B211}" type="parTrans">
      <dgm:prSet/>
      <dgm:spPr/>
      <dgm:t>
        <a:bodyPr/>
        <a:lstStyle/>
        <a:p>
          <a:endParaRPr lang="en-US"/>
        </a:p>
      </dgm:t>
    </dgm:pt>
    <dgm:pt modelId="{196A2EB9-DD96-4630-B699-7AF000340374}" cxnId="{521FD508-C5FD-4804-AFDC-D1FF9945B211}" type="sibTrans">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C9A3B9B1-1FC9-446A-9656-A3D6C4847539}" type="pres">
      <dgm:prSet presAssocID="{65C051F6-A849-4495-A964-CD4C650B9C06}" presName="ChildAccent5" presStyleCnt="0"/>
      <dgm:spPr/>
    </dgm:pt>
    <dgm:pt modelId="{6579E34E-F826-4F72-A692-49A0FA7BCCCE}" type="pres">
      <dgm:prSet presAssocID="{65C051F6-A849-4495-A964-CD4C650B9C06}" presName="ChildAccent" presStyleLbl="alignImgPlace1" presStyleIdx="0" presStyleCnt="5"/>
      <dgm:spPr/>
    </dgm:pt>
    <dgm:pt modelId="{AC3844F9-D92C-4E46-A86A-DE022F664E40}" type="pres">
      <dgm:prSet presAssocID="{65C051F6-A849-4495-A964-CD4C650B9C06}" presName="Child5" presStyleLbl="revTx" presStyleIdx="0" presStyleCnt="0">
        <dgm:presLayoutVars>
          <dgm:chMax val="0"/>
          <dgm:chPref val="0"/>
          <dgm:bulletEnabled val="1"/>
        </dgm:presLayoutVars>
      </dgm:prSet>
      <dgm:spPr/>
    </dgm:pt>
    <dgm:pt modelId="{C663933D-3569-4C3F-A605-D007790976C4}" type="pres">
      <dgm:prSet presAssocID="{65C051F6-A849-4495-A964-CD4C650B9C06}" presName="Parent5" presStyleLbl="node1" presStyleIdx="0" presStyleCnt="5">
        <dgm:presLayoutVars>
          <dgm:chMax val="2"/>
          <dgm:chPref val="1"/>
          <dgm:bulletEnabled val="1"/>
        </dgm:presLayoutVars>
      </dgm:prSet>
      <dgm:spPr/>
    </dgm:pt>
    <dgm:pt modelId="{E22CA5C4-54FB-4F61-9968-18FC5C27C67B}" type="pres">
      <dgm:prSet presAssocID="{5E92505A-51E0-4F78-B3C5-704ACF8710DE}" presName="ChildAccent4" presStyleCnt="0"/>
      <dgm:spPr/>
    </dgm:pt>
    <dgm:pt modelId="{C5EDE678-BCED-4DB0-99D2-DD538B25AAC0}" type="pres">
      <dgm:prSet presAssocID="{5E92505A-51E0-4F78-B3C5-704ACF8710DE}" presName="ChildAccent" presStyleLbl="alignImgPlace1" presStyleIdx="1" presStyleCnt="5"/>
      <dgm:spPr/>
    </dgm:pt>
    <dgm:pt modelId="{D0E89D58-A77C-4625-8DDF-D48B385F5EE2}" type="pres">
      <dgm:prSet presAssocID="{5E92505A-51E0-4F78-B3C5-704ACF8710DE}" presName="Child4" presStyleLbl="revTx" presStyleIdx="0" presStyleCnt="0">
        <dgm:presLayoutVars>
          <dgm:chMax val="0"/>
          <dgm:chPref val="0"/>
          <dgm:bulletEnabled val="1"/>
        </dgm:presLayoutVars>
      </dgm:prSet>
      <dgm:spPr/>
    </dgm:pt>
    <dgm:pt modelId="{C3EA3D7F-10CE-4BC3-9D35-39DFB8D39F6D}" type="pres">
      <dgm:prSet presAssocID="{5E92505A-51E0-4F78-B3C5-704ACF8710DE}" presName="Parent4" presStyleLbl="node1" presStyleIdx="1" presStyleCnt="5">
        <dgm:presLayoutVars>
          <dgm:chMax val="2"/>
          <dgm:chPref val="1"/>
          <dgm:bulletEnabled val="1"/>
        </dgm:presLayoutVars>
      </dgm:prSet>
      <dgm:spPr/>
    </dgm:pt>
    <dgm:pt modelId="{2A3DE24C-85D1-408A-861D-D25E80F2561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71558F2C-14B2-45E3-8686-5C8392BAD72D}" type="pres">
      <dgm:prSet presAssocID="{A59EC69B-8F3F-425B-819F-E8C557946AEE}" presName="Child3" presStyleLbl="revTx" presStyleIdx="0" presStyleCnt="0">
        <dgm:presLayoutVars>
          <dgm:chMax val="0"/>
          <dgm:chPref val="0"/>
          <dgm:bulletEnabled val="1"/>
        </dgm:presLayoutVars>
      </dgm:prSet>
      <dgm:spPr/>
    </dgm:pt>
    <dgm:pt modelId="{A5B1F469-5A64-4A5A-AB3D-ECB2B2CC7546}" type="pres">
      <dgm:prSet presAssocID="{A59EC69B-8F3F-425B-819F-E8C557946AEE}" presName="Parent3" presStyleLbl="node1" presStyleIdx="2" presStyleCnt="5">
        <dgm:presLayoutVars>
          <dgm:chMax val="2"/>
          <dgm:chPref val="1"/>
          <dgm:bulletEnabled val="1"/>
        </dgm:presLayoutVars>
      </dgm:prSet>
      <dgm:spPr/>
    </dgm:pt>
    <dgm:pt modelId="{4F975B33-4D1A-4A61-AB39-BD001D41E338}"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C364ACFA-53BB-43B4-A631-49241AAD0E1E}" type="pres">
      <dgm:prSet presAssocID="{7B3055AA-BF7C-46D0-9A9E-60087B9F57B4}" presName="Child2" presStyleLbl="revTx" presStyleIdx="0" presStyleCnt="0">
        <dgm:presLayoutVars>
          <dgm:chMax val="0"/>
          <dgm:chPref val="0"/>
          <dgm:bulletEnabled val="1"/>
        </dgm:presLayoutVars>
      </dgm:prSet>
      <dgm:spPr/>
    </dgm:pt>
    <dgm:pt modelId="{05C02210-DBD6-497E-A1FF-7AE1F5A0EC16}"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1EDB0427-0075-4131-A66B-E79A890B32D2}" type="presOf" srcId="{5E92505A-51E0-4F78-B3C5-704ACF8710DE}" destId="{C3EA3D7F-10CE-4BC3-9D35-39DFB8D39F6D}" srcOrd="0" destOrd="0" presId="urn:microsoft.com/office/officeart/2011/layout/InterconnectedBlockProcess"/>
    <dgm:cxn modelId="{B1B54E67-0570-436C-8263-9A66FA54B287}" type="presOf" srcId="{7B3055AA-BF7C-46D0-9A9E-60087B9F57B4}" destId="{05C02210-DBD6-497E-A1FF-7AE1F5A0EC16}" srcOrd="0" destOrd="0" presId="urn:microsoft.com/office/officeart/2011/layout/InterconnectedBlockProcess"/>
    <dgm:cxn modelId="{71BA1E73-FBD6-4331-A01E-13F898EC961F}" type="presOf" srcId="{65C051F6-A849-4495-A964-CD4C650B9C06}" destId="{C663933D-3569-4C3F-A605-D007790976C4}"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DECE069E-4E0D-4FC8-93A6-3F27E7E0FD6E}" type="presOf" srcId="{73DB572E-062D-41AD-8033-D361B8E583DB}" destId="{71558F2C-14B2-45E3-8686-5C8392BAD72D}" srcOrd="0" destOrd="0" presId="urn:microsoft.com/office/officeart/2011/layout/InterconnectedBlockProcess"/>
    <dgm:cxn modelId="{14FA4BAD-C84E-4123-B706-8FE49BBDBACE}"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1BA1DD0-A52A-47BF-962D-9810C87E1576}" srcId="{5751524B-FB67-4894-A0C5-35151E149D68}" destId="{A59EC69B-8F3F-425B-819F-E8C557946AEE}" srcOrd="2" destOrd="0" parTransId="{0095C3CB-916F-4060-A8DA-DD282FB51587}" sibTransId="{2868AD8D-4E38-46CE-A972-709857BF40AC}"/>
    <dgm:cxn modelId="{DA8CD5E8-B2EE-41E4-8EC6-CFB41D688F68}" srcId="{5751524B-FB67-4894-A0C5-35151E149D68}" destId="{5E92505A-51E0-4F78-B3C5-704ACF8710DE}" srcOrd="3" destOrd="0" parTransId="{765B1266-7CE2-4F9C-AE38-D97DFBC1B151}" sibTransId="{5E9E6A6F-635A-4791-A107-01E95B62EA08}"/>
    <dgm:cxn modelId="{A3B7BDF2-B1B6-437D-A9BF-9412C7343763}" type="presOf" srcId="{A59EC69B-8F3F-425B-819F-E8C557946AEE}" destId="{A5B1F469-5A64-4A5A-AB3D-ECB2B2CC7546}"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05A563FF-71A5-462F-AF97-FE9177D35EC4}" type="presOf" srcId="{73DB572E-062D-41AD-8033-D361B8E583DB}" destId="{2532504F-5FE1-4C97-B485-F05E8885EACC}" srcOrd="1" destOrd="0" presId="urn:microsoft.com/office/officeart/2011/layout/InterconnectedBlockProcess"/>
    <dgm:cxn modelId="{262BC12D-FDE0-4BA0-9C33-C05F5872E02D}" type="presParOf" srcId="{A6BCDA7B-D633-438F-B44D-CB4D60E5C492}" destId="{C9A3B9B1-1FC9-446A-9656-A3D6C4847539}" srcOrd="0" destOrd="0" presId="urn:microsoft.com/office/officeart/2011/layout/InterconnectedBlockProcess"/>
    <dgm:cxn modelId="{7C6F33C0-C094-4F17-A802-6722EEEE9093}" type="presParOf" srcId="{C9A3B9B1-1FC9-446A-9656-A3D6C4847539}" destId="{6579E34E-F826-4F72-A692-49A0FA7BCCCE}" srcOrd="0" destOrd="0" presId="urn:microsoft.com/office/officeart/2011/layout/InterconnectedBlockProcess"/>
    <dgm:cxn modelId="{84E8112A-8B1A-4221-8B84-798836A0F732}" type="presParOf" srcId="{A6BCDA7B-D633-438F-B44D-CB4D60E5C492}" destId="{AC3844F9-D92C-4E46-A86A-DE022F664E40}" srcOrd="1" destOrd="0" presId="urn:microsoft.com/office/officeart/2011/layout/InterconnectedBlockProcess"/>
    <dgm:cxn modelId="{E150C3FD-062E-46BC-A5B7-B847AF3A5C25}" type="presParOf" srcId="{A6BCDA7B-D633-438F-B44D-CB4D60E5C492}" destId="{C663933D-3569-4C3F-A605-D007790976C4}" srcOrd="2" destOrd="0" presId="urn:microsoft.com/office/officeart/2011/layout/InterconnectedBlockProcess"/>
    <dgm:cxn modelId="{1D41BFEE-B2D8-4CBA-9A94-144645A88806}" type="presParOf" srcId="{A6BCDA7B-D633-438F-B44D-CB4D60E5C492}" destId="{E22CA5C4-54FB-4F61-9968-18FC5C27C67B}" srcOrd="3" destOrd="0" presId="urn:microsoft.com/office/officeart/2011/layout/InterconnectedBlockProcess"/>
    <dgm:cxn modelId="{65107204-4763-412C-A6DF-C26D93B31001}" type="presParOf" srcId="{E22CA5C4-54FB-4F61-9968-18FC5C27C67B}" destId="{C5EDE678-BCED-4DB0-99D2-DD538B25AAC0}" srcOrd="0" destOrd="0" presId="urn:microsoft.com/office/officeart/2011/layout/InterconnectedBlockProcess"/>
    <dgm:cxn modelId="{1FC868E2-B5E5-45FE-AD45-FD9FA95C4CE3}" type="presParOf" srcId="{A6BCDA7B-D633-438F-B44D-CB4D60E5C492}" destId="{D0E89D58-A77C-4625-8DDF-D48B385F5EE2}" srcOrd="4" destOrd="0" presId="urn:microsoft.com/office/officeart/2011/layout/InterconnectedBlockProcess"/>
    <dgm:cxn modelId="{AF4402EA-1CB9-4EE3-A7CC-A4605769441E}" type="presParOf" srcId="{A6BCDA7B-D633-438F-B44D-CB4D60E5C492}" destId="{C3EA3D7F-10CE-4BC3-9D35-39DFB8D39F6D}" srcOrd="5" destOrd="0" presId="urn:microsoft.com/office/officeart/2011/layout/InterconnectedBlockProcess"/>
    <dgm:cxn modelId="{ECF44C63-9B90-4393-9D54-55E917040C9B}" type="presParOf" srcId="{A6BCDA7B-D633-438F-B44D-CB4D60E5C492}" destId="{2A3DE24C-85D1-408A-861D-D25E80F2561E}" srcOrd="6" destOrd="0" presId="urn:microsoft.com/office/officeart/2011/layout/InterconnectedBlockProcess"/>
    <dgm:cxn modelId="{ED319CAC-9155-43C9-89F2-B792E4A2B741}" type="presParOf" srcId="{2A3DE24C-85D1-408A-861D-D25E80F2561E}" destId="{2532504F-5FE1-4C97-B485-F05E8885EACC}" srcOrd="0" destOrd="0" presId="urn:microsoft.com/office/officeart/2011/layout/InterconnectedBlockProcess"/>
    <dgm:cxn modelId="{DBEA7704-A58E-4660-B5C5-0AFC9E23B541}" type="presParOf" srcId="{A6BCDA7B-D633-438F-B44D-CB4D60E5C492}" destId="{71558F2C-14B2-45E3-8686-5C8392BAD72D}" srcOrd="7" destOrd="0" presId="urn:microsoft.com/office/officeart/2011/layout/InterconnectedBlockProcess"/>
    <dgm:cxn modelId="{91E2CCC4-B8DC-431C-B2C7-32BBC0DF23AC}" type="presParOf" srcId="{A6BCDA7B-D633-438F-B44D-CB4D60E5C492}" destId="{A5B1F469-5A64-4A5A-AB3D-ECB2B2CC7546}" srcOrd="8" destOrd="0" presId="urn:microsoft.com/office/officeart/2011/layout/InterconnectedBlockProcess"/>
    <dgm:cxn modelId="{B2F87B08-34E6-420A-902F-3077B5B5EBD1}" type="presParOf" srcId="{A6BCDA7B-D633-438F-B44D-CB4D60E5C492}" destId="{4F975B33-4D1A-4A61-AB39-BD001D41E338}" srcOrd="9" destOrd="0" presId="urn:microsoft.com/office/officeart/2011/layout/InterconnectedBlockProcess"/>
    <dgm:cxn modelId="{F0D1E7AF-F82A-47B9-BDE7-12EA1224A68C}" type="presParOf" srcId="{4F975B33-4D1A-4A61-AB39-BD001D41E338}" destId="{06F8D57B-EDF4-4CF4-8700-DC2CA3E3028E}" srcOrd="0" destOrd="0" presId="urn:microsoft.com/office/officeart/2011/layout/InterconnectedBlockProcess"/>
    <dgm:cxn modelId="{9B0A77D1-9606-454A-A258-E60191933D4D}" type="presParOf" srcId="{A6BCDA7B-D633-438F-B44D-CB4D60E5C492}" destId="{C364ACFA-53BB-43B4-A631-49241AAD0E1E}" srcOrd="10" destOrd="0" presId="urn:microsoft.com/office/officeart/2011/layout/InterconnectedBlockProcess"/>
    <dgm:cxn modelId="{980830EA-F6E3-4A16-AFFC-0ECF6A51F20C}" type="presParOf" srcId="{A6BCDA7B-D633-438F-B44D-CB4D60E5C492}" destId="{05C02210-DBD6-497E-A1FF-7AE1F5A0EC16}" srcOrd="11" destOrd="0" presId="urn:microsoft.com/office/officeart/2011/layout/InterconnectedBlockProcess"/>
    <dgm:cxn modelId="{AEF2B3CE-4629-4792-BF67-922AAF1F6C1D}" type="presParOf" srcId="{A6BCDA7B-D633-438F-B44D-CB4D60E5C492}" destId="{7305DF14-0FF5-45E4-8B19-015814092DBD}" srcOrd="12" destOrd="0" presId="urn:microsoft.com/office/officeart/2011/layout/InterconnectedBlockProcess"/>
    <dgm:cxn modelId="{F9EA1344-587D-4627-9C21-3B59C4316E6E}" type="presParOf" srcId="{7305DF14-0FF5-45E4-8B19-015814092DBD}" destId="{A134CDD1-D85F-44EF-8BEE-9F99A855C1E6}" srcOrd="0" destOrd="0" presId="urn:microsoft.com/office/officeart/2011/layout/InterconnectedBlockProcess"/>
    <dgm:cxn modelId="{C26FE489-E3ED-4651-8E57-40F64F98BF8A}" type="presParOf" srcId="{A6BCDA7B-D633-438F-B44D-CB4D60E5C492}" destId="{1C91D7E3-8940-4A33-9182-677DD5415901}" srcOrd="13" destOrd="0" presId="urn:microsoft.com/office/officeart/2011/layout/InterconnectedBlockProcess"/>
    <dgm:cxn modelId="{BBDBDAA2-0DEE-4737-BB84-656D97D54B61}"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388411" cy="4058195"/>
        <a:chOff x="0" y="0"/>
        <a:chExt cx="6388411" cy="4058195"/>
      </a:xfrm>
    </dsp:grpSpPr>
    <dsp:sp modelId="{6579E34E-F826-4F72-A692-49A0FA7BCCCE}">
      <dsp:nvSpPr>
        <dsp:cNvPr id="3" name="Rectangular Callout 2"/>
        <dsp:cNvSpPr/>
      </dsp:nvSpPr>
      <dsp:spPr bwMode="white">
        <a:xfrm>
          <a:off x="7173684" y="811639"/>
          <a:ext cx="1278321" cy="3246556"/>
        </a:xfrm>
        <a:prstGeom prst="wedgeRectCallout">
          <a:avLst>
            <a:gd name="adj1" fmla="val 0"/>
            <a:gd name="adj2" fmla="val 0"/>
          </a:avLst>
        </a:prstGeom>
      </dsp:spPr>
      <dsp:style>
        <a:lnRef idx="2">
          <a:schemeClr val="lt1"/>
        </a:lnRef>
        <a:fillRef idx="1">
          <a:schemeClr val="accent1">
            <a:tint val="50000"/>
            <a:hueOff val="0"/>
            <a:satOff val="0"/>
            <a:lumOff val="0"/>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7173684" y="811639"/>
        <a:ext cx="1278321" cy="3246556"/>
      </dsp:txXfrm>
    </dsp:sp>
    <dsp:sp modelId="{C663933D-3569-4C3F-A605-D007790976C4}">
      <dsp:nvSpPr>
        <dsp:cNvPr id="4" name="Rectangles 3"/>
        <dsp:cNvSpPr/>
      </dsp:nvSpPr>
      <dsp:spPr bwMode="white">
        <a:xfrm>
          <a:off x="7173684" y="0"/>
          <a:ext cx="1278321" cy="811639"/>
        </a:xfrm>
        <a:prstGeom prst="rect">
          <a:avLst/>
        </a:prstGeom>
      </dsp:spPr>
      <dsp:style>
        <a:lnRef idx="2">
          <a:schemeClr val="lt1"/>
        </a:lnRef>
        <a:fillRef idx="1">
          <a:schemeClr val="accent2"/>
        </a:fillRef>
        <a:effectRef idx="0">
          <a:scrgbClr r="0" g="0" b="0"/>
        </a:effectRef>
        <a:fontRef idx="minor">
          <a:schemeClr val="lt1"/>
        </a:fontRef>
      </dsp:style>
      <dsp:txBody>
        <a:bodyPr lIns="34925" tIns="34925" rIns="34925" bIns="34925"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Final Review</a:t>
          </a:r>
        </a:p>
      </dsp:txBody>
      <dsp:txXfrm>
        <a:off x="7173684" y="0"/>
        <a:ext cx="1278321" cy="811639"/>
      </dsp:txXfrm>
    </dsp:sp>
    <dsp:sp modelId="{C5EDE678-BCED-4DB0-99D2-DD538B25AAC0}">
      <dsp:nvSpPr>
        <dsp:cNvPr id="5" name="Rectangular Callout 4"/>
        <dsp:cNvSpPr/>
      </dsp:nvSpPr>
      <dsp:spPr bwMode="white">
        <a:xfrm>
          <a:off x="5898558" y="811639"/>
          <a:ext cx="1278321" cy="3043646"/>
        </a:xfrm>
        <a:prstGeom prst="wedgeRectCallout">
          <a:avLst>
            <a:gd name="adj1" fmla="val 62500"/>
            <a:gd name="adj2" fmla="val 20830"/>
          </a:avLst>
        </a:prstGeom>
      </dsp:spPr>
      <dsp:style>
        <a:lnRef idx="2">
          <a:schemeClr val="lt1"/>
        </a:lnRef>
        <a:fillRef idx="1">
          <a:schemeClr val="accent1">
            <a:tint val="50000"/>
            <a:hueOff val="-3195000"/>
            <a:satOff val="9216"/>
            <a:lumOff val="3137"/>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5898558" y="811639"/>
        <a:ext cx="1278321" cy="3043646"/>
      </dsp:txXfrm>
    </dsp:sp>
    <dsp:sp modelId="{C3EA3D7F-10CE-4BC3-9D35-39DFB8D39F6D}">
      <dsp:nvSpPr>
        <dsp:cNvPr id="6" name="Rectangles 5"/>
        <dsp:cNvSpPr/>
      </dsp:nvSpPr>
      <dsp:spPr bwMode="white">
        <a:xfrm>
          <a:off x="5898558" y="101455"/>
          <a:ext cx="1278321" cy="710184"/>
        </a:xfrm>
        <a:prstGeom prst="rect">
          <a:avLst/>
        </a:prstGeom>
      </dsp:spPr>
      <dsp:style>
        <a:lnRef idx="2">
          <a:schemeClr val="lt1"/>
        </a:lnRef>
        <a:fillRef idx="1">
          <a:schemeClr val="accent3"/>
        </a:fillRef>
        <a:effectRef idx="0">
          <a:scrgbClr r="0" g="0" b="0"/>
        </a:effectRef>
        <a:fontRef idx="minor">
          <a:schemeClr val="lt1"/>
        </a:fontRef>
      </dsp:style>
      <dsp:txBody>
        <a:bodyPr lIns="34925" tIns="34925" rIns="34925" bIns="34925"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Review 4</a:t>
          </a:r>
        </a:p>
      </dsp:txBody>
      <dsp:txXfrm>
        <a:off x="5898558" y="101455"/>
        <a:ext cx="1278321" cy="710184"/>
      </dsp:txXfrm>
    </dsp:sp>
    <dsp:sp modelId="{2532504F-5FE1-4C97-B485-F05E8885EACC}">
      <dsp:nvSpPr>
        <dsp:cNvPr id="7" name="Rectangular Callout 6"/>
        <dsp:cNvSpPr/>
      </dsp:nvSpPr>
      <dsp:spPr bwMode="white">
        <a:xfrm>
          <a:off x="4620237" y="811639"/>
          <a:ext cx="1278321" cy="2840736"/>
        </a:xfrm>
        <a:prstGeom prst="wedgeRectCallout">
          <a:avLst>
            <a:gd name="adj1" fmla="val 62500"/>
            <a:gd name="adj2" fmla="val 20830"/>
          </a:avLst>
        </a:prstGeom>
      </dsp:spPr>
      <dsp:style>
        <a:lnRef idx="2">
          <a:schemeClr val="lt1"/>
        </a:lnRef>
        <a:fillRef idx="1">
          <a:schemeClr val="accent1">
            <a:tint val="50000"/>
            <a:hueOff val="-6390000"/>
            <a:satOff val="18431"/>
            <a:lumOff val="6275"/>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4620237" y="811639"/>
        <a:ext cx="1278321" cy="2840736"/>
      </dsp:txXfrm>
    </dsp:sp>
    <dsp:sp modelId="{A5B1F469-5A64-4A5A-AB3D-ECB2B2CC7546}">
      <dsp:nvSpPr>
        <dsp:cNvPr id="8" name="Rectangles 7"/>
        <dsp:cNvSpPr/>
      </dsp:nvSpPr>
      <dsp:spPr bwMode="white">
        <a:xfrm>
          <a:off x="4620237" y="206156"/>
          <a:ext cx="1278321" cy="608729"/>
        </a:xfrm>
        <a:prstGeom prst="rect">
          <a:avLst/>
        </a:prstGeom>
      </dsp:spPr>
      <dsp:style>
        <a:lnRef idx="2">
          <a:schemeClr val="lt1"/>
        </a:lnRef>
        <a:fillRef idx="1">
          <a:schemeClr val="accent4"/>
        </a:fillRef>
        <a:effectRef idx="0">
          <a:scrgbClr r="0" g="0" b="0"/>
        </a:effectRef>
        <a:fontRef idx="minor">
          <a:schemeClr val="lt1"/>
        </a:fontRef>
      </dsp:style>
      <dsp:txBody>
        <a:bodyPr lIns="34925" tIns="34925" rIns="34925" bIns="34925"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Review 3</a:t>
          </a:r>
        </a:p>
      </dsp:txBody>
      <dsp:txXfrm>
        <a:off x="4620237" y="206156"/>
        <a:ext cx="1278321" cy="608729"/>
      </dsp:txXfrm>
    </dsp:sp>
    <dsp:sp modelId="{06F8D57B-EDF4-4CF4-8700-DC2CA3E3028E}">
      <dsp:nvSpPr>
        <dsp:cNvPr id="9" name="Rectangular Callout 8"/>
        <dsp:cNvSpPr/>
      </dsp:nvSpPr>
      <dsp:spPr bwMode="white">
        <a:xfrm>
          <a:off x="3341916" y="811639"/>
          <a:ext cx="1278321" cy="2637827"/>
        </a:xfrm>
        <a:prstGeom prst="wedgeRectCallout">
          <a:avLst>
            <a:gd name="adj1" fmla="val 62500"/>
            <a:gd name="adj2" fmla="val 20830"/>
          </a:avLst>
        </a:prstGeom>
      </dsp:spPr>
      <dsp:style>
        <a:lnRef idx="2">
          <a:schemeClr val="lt1"/>
        </a:lnRef>
        <a:fillRef idx="1">
          <a:schemeClr val="accent1">
            <a:tint val="50000"/>
            <a:hueOff val="-9585000"/>
            <a:satOff val="27647"/>
            <a:lumOff val="9412"/>
            <a:alpha val="100000"/>
          </a:schemeClr>
        </a:fillRef>
        <a:effectRef idx="0">
          <a:scrgbClr r="0" g="0" b="0"/>
        </a:effectRef>
        <a:fontRef idx="minor"/>
      </dsp:style>
      <dsp:txXfrm>
        <a:off x="3341916" y="811639"/>
        <a:ext cx="1278321" cy="2637827"/>
      </dsp:txXfrm>
    </dsp:sp>
    <dsp:sp modelId="{05C02210-DBD6-497E-A1FF-7AE1F5A0EC16}">
      <dsp:nvSpPr>
        <dsp:cNvPr id="11" name="Rectangles 10"/>
        <dsp:cNvSpPr/>
      </dsp:nvSpPr>
      <dsp:spPr bwMode="white">
        <a:xfrm>
          <a:off x="3341916" y="304365"/>
          <a:ext cx="1278321" cy="507274"/>
        </a:xfrm>
        <a:prstGeom prst="rect">
          <a:avLst/>
        </a:prstGeom>
      </dsp:spPr>
      <dsp:style>
        <a:lnRef idx="2">
          <a:schemeClr val="lt1"/>
        </a:lnRef>
        <a:fillRef idx="1">
          <a:schemeClr val="accent5"/>
        </a:fillRef>
        <a:effectRef idx="0">
          <a:scrgbClr r="0" g="0" b="0"/>
        </a:effectRef>
        <a:fontRef idx="minor">
          <a:schemeClr val="lt1"/>
        </a:fontRef>
      </dsp:style>
      <dsp:txBody>
        <a:bodyPr lIns="34925" tIns="34925" rIns="34925" bIns="34925"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en-US" dirty="0">
              <a:latin typeface="Times New Roman" panose="02020603050405020304"/>
              <a:cs typeface="Times New Roman" panose="02020603050405020304"/>
            </a:rPr>
            <a:t>Review 2</a:t>
          </a:r>
        </a:p>
      </dsp:txBody>
      <dsp:txXfrm>
        <a:off x="3341916" y="304365"/>
        <a:ext cx="1278321" cy="507274"/>
      </dsp:txXfrm>
    </dsp:sp>
    <dsp:sp modelId="{A134CDD1-D85F-44EF-8BEE-9F99A855C1E6}">
      <dsp:nvSpPr>
        <dsp:cNvPr id="12" name="Rectangular Callout 11"/>
        <dsp:cNvSpPr/>
      </dsp:nvSpPr>
      <dsp:spPr bwMode="white">
        <a:xfrm>
          <a:off x="2063595" y="811639"/>
          <a:ext cx="1278321" cy="2434917"/>
        </a:xfrm>
        <a:prstGeom prst="wedgeRectCallout">
          <a:avLst>
            <a:gd name="adj1" fmla="val 62500"/>
            <a:gd name="adj2" fmla="val 20830"/>
          </a:avLst>
        </a:prstGeom>
      </dsp:spPr>
      <dsp:style>
        <a:lnRef idx="2">
          <a:schemeClr val="lt1"/>
        </a:lnRef>
        <a:fillRef idx="1">
          <a:schemeClr val="accent1">
            <a:tint val="50000"/>
            <a:hueOff val="-12780000"/>
            <a:satOff val="36863"/>
            <a:lumOff val="12549"/>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2063595" y="811639"/>
        <a:ext cx="1278321" cy="2434917"/>
      </dsp:txXfrm>
    </dsp:sp>
    <dsp:sp modelId="{65257024-FAC0-4522-B139-1CC85B547BE8}">
      <dsp:nvSpPr>
        <dsp:cNvPr id="13" name="Rectangles 12"/>
        <dsp:cNvSpPr/>
      </dsp:nvSpPr>
      <dsp:spPr bwMode="white">
        <a:xfrm>
          <a:off x="2063595" y="405820"/>
          <a:ext cx="1278321" cy="405820"/>
        </a:xfrm>
        <a:prstGeom prst="rect">
          <a:avLst/>
        </a:prstGeom>
      </dsp:spPr>
      <dsp:style>
        <a:lnRef idx="2">
          <a:schemeClr val="lt1"/>
        </a:lnRef>
        <a:fillRef idx="1">
          <a:schemeClr val="accent6"/>
        </a:fillRef>
        <a:effectRef idx="0">
          <a:scrgbClr r="0" g="0" b="0"/>
        </a:effectRef>
        <a:fontRef idx="minor">
          <a:schemeClr val="lt1"/>
        </a:fontRef>
      </dsp:style>
      <dsp:txBody>
        <a:bodyPr lIns="34925" tIns="34925" rIns="34925" bIns="34925"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gn="l" rtl="0">
            <a:lnSpc>
              <a:spcPct val="100000"/>
            </a:lnSpc>
            <a:spcBef>
              <a:spcPct val="0"/>
            </a:spcBef>
            <a:spcAft>
              <a:spcPct val="35000"/>
            </a:spcAft>
          </a:pPr>
          <a:r>
            <a:rPr lang="en-US" dirty="0">
              <a:latin typeface="Times New Roman" panose="02020603050405020304"/>
              <a:cs typeface="Times New Roman" panose="02020603050405020304"/>
            </a:rPr>
            <a:t>Review </a:t>
          </a:r>
          <a:r>
            <a:rPr lang="en-US" dirty="0">
              <a:latin typeface="Times New Roman" panose="02020603050405020304"/>
              <a:ea typeface="Calibri Light" panose="020F0302020204030204"/>
              <a:cs typeface="Times New Roman" panose="02020603050405020304"/>
            </a:rPr>
            <a:t>1</a:t>
          </a:r>
          <a:br>
            <a:rPr lang="en-US" dirty="0">
              <a:solidFill>
                <a:srgbClr val="000000"/>
              </a:solidFill>
              <a:latin typeface="Times New Roman" panose="02020603050405020304"/>
              <a:ea typeface="Calibri Light" panose="020F0302020204030204"/>
              <a:cs typeface="Times New Roman" panose="02020603050405020304"/>
            </a:rPr>
          </a:br>
          <a:endParaRPr lang="en-US" dirty="0">
            <a:solidFill>
              <a:srgbClr val="000000"/>
            </a:solidFill>
            <a:latin typeface="Times New Roman" panose="02020603050405020304"/>
            <a:ea typeface="Calibri Light" panose="020F0302020204030204"/>
            <a:cs typeface="Times New Roman" panose="02020603050405020304"/>
          </a:endParaRPr>
        </a:p>
      </dsp:txBody>
      <dsp:txXfrm>
        <a:off x="2063595" y="405820"/>
        <a:ext cx="1278321" cy="405820"/>
      </dsp:txXfrm>
    </dsp:sp>
    <dsp:sp modelId="{C364ACFA-53BB-43B4-A631-49241AAD0E1E}">
      <dsp:nvSpPr>
        <dsp:cNvPr id="10" name="Rectangles 9"/>
        <dsp:cNvSpPr/>
      </dsp:nvSpPr>
      <dsp:spPr bwMode="white">
        <a:xfrm>
          <a:off x="3504181" y="811639"/>
          <a:ext cx="1116055" cy="2637827"/>
        </a:xfrm>
        <a:prstGeom prst="rect">
          <a:avLst/>
        </a:prstGeom>
        <a:noFill/>
        <a:ln>
          <a:noFill/>
        </a:ln>
      </dsp:spPr>
      <dsp:style>
        <a:lnRef idx="0">
          <a:scrgbClr r="0" g="0" b="0"/>
        </a:lnRef>
        <a:fillRef idx="0">
          <a:scrgbClr r="0" g="0" b="0"/>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3504181" y="811639"/>
        <a:ext cx="1116055" cy="2637827"/>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B3E8F52-857A-4C89-954C-57943DB51290}"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C2A547-6E4B-4188-9BD5-035CB9C4BCC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2706E29-16A1-4AAE-B55B-4E3DB726560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20https://github.com/campuscore-erp/CampusCore&#13;"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20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a:t>
            </a:r>
            <a:r>
              <a:rPr lang="en-IN" alt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 H Senthil Kumar</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a:t>
            </a:r>
            <a:r>
              <a:rPr lang="en-IN" alt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sistant</a:t>
            </a: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Professor </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CSE</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r>
              <a:rPr lang="en-US" sz="2000" b="1" i="0" u="none" strike="noStrike" cap="none" dirty="0">
                <a:solidFill>
                  <a:schemeClr val="accent1"/>
                </a:solidFill>
                <a:latin typeface="Cambria" panose="02040503050406030204"/>
                <a:ea typeface="+mn-lt"/>
                <a:cs typeface="+mn-lt"/>
                <a:sym typeface="Verdana" panose="020B0604030504040204"/>
              </a:rPr>
              <a:t>Name of the Program: </a:t>
            </a:r>
            <a:r>
              <a:rPr lang="en-US" sz="2000" b="1" dirty="0">
                <a:solidFill>
                  <a:schemeClr val="tx1">
                    <a:lumMod val="95000"/>
                    <a:lumOff val="5000"/>
                  </a:schemeClr>
                </a:solidFill>
                <a:latin typeface="Cambria" panose="02040503050406030204"/>
                <a:ea typeface="+mn-lt"/>
                <a:cs typeface="+mn-lt"/>
                <a:sym typeface="Verdana" panose="020B0604030504040204"/>
              </a:rPr>
              <a:t>B-Tech CSE</a:t>
            </a:r>
            <a:endParaRPr lang="en-US" b="1" dirty="0">
              <a:solidFill>
                <a:schemeClr val="tx1">
                  <a:lumMod val="95000"/>
                  <a:lumOff val="5000"/>
                </a:schemeClr>
              </a:solidFill>
              <a:latin typeface="Cambria" panose="02040503050406030204"/>
              <a:ea typeface="Cambria" panose="02040503050406030204"/>
            </a:endParaRPr>
          </a:p>
          <a:p>
            <a:r>
              <a:rPr lang="en-US" sz="2000" b="1" dirty="0">
                <a:solidFill>
                  <a:schemeClr val="accent1"/>
                </a:solidFill>
                <a:latin typeface="Cambria" panose="02040503050406030204"/>
                <a:ea typeface="+mn-lt"/>
                <a:cs typeface="+mn-lt"/>
                <a:sym typeface="Verdana" panose="020B0604030504040204"/>
              </a:rPr>
              <a:t>Name of the HOD: </a:t>
            </a:r>
            <a:r>
              <a:rPr lang="en-US" sz="2000" b="1" dirty="0">
                <a:solidFill>
                  <a:schemeClr val="tx1">
                    <a:lumMod val="95000"/>
                    <a:lumOff val="5000"/>
                  </a:schemeClr>
                </a:solidFill>
                <a:latin typeface="Cambria" panose="02040503050406030204"/>
                <a:ea typeface="+mn-lt"/>
                <a:cs typeface="+mn-lt"/>
                <a:sym typeface="Verdana" panose="020B0604030504040204"/>
              </a:rPr>
              <a:t>Dr. Asif Mohammed</a:t>
            </a:r>
            <a:endParaRPr lang="en-US" b="1" dirty="0">
              <a:solidFill>
                <a:schemeClr val="tx1">
                  <a:lumMod val="95000"/>
                  <a:lumOff val="5000"/>
                </a:schemeClr>
              </a:solidFill>
              <a:latin typeface="Cambria" panose="02040503050406030204"/>
              <a:ea typeface="Cambria" panose="02040503050406030204"/>
            </a:endParaRPr>
          </a:p>
          <a:p>
            <a:r>
              <a:rPr lang="en-US" sz="2000" b="1" i="0" u="none" strike="noStrike" cap="none" dirty="0">
                <a:solidFill>
                  <a:schemeClr val="accent1"/>
                </a:solidFill>
                <a:latin typeface="Cambria" panose="02040503050406030204"/>
                <a:ea typeface="+mn-lt"/>
                <a:cs typeface="+mn-lt"/>
                <a:sym typeface="Verdana" panose="020B0604030504040204"/>
              </a:rPr>
              <a:t>Name of the Program Internship Coordinator: </a:t>
            </a:r>
            <a:r>
              <a:rPr lang="en-US" sz="2000" b="1" dirty="0">
                <a:solidFill>
                  <a:schemeClr val="tx1">
                    <a:lumMod val="95000"/>
                    <a:lumOff val="5000"/>
                  </a:schemeClr>
                </a:solidFill>
                <a:latin typeface="Cambria" panose="02040503050406030204"/>
                <a:ea typeface="+mn-lt"/>
                <a:cs typeface="+mn-lt"/>
                <a:sym typeface="Verdana" panose="020B0604030504040204"/>
              </a:rPr>
              <a:t>Mr. Sakthi S</a:t>
            </a:r>
            <a:endParaRPr lang="en-US" b="1">
              <a:solidFill>
                <a:schemeClr val="tx1">
                  <a:lumMod val="95000"/>
                  <a:lumOff val="5000"/>
                </a:schemeClr>
              </a:solidFill>
              <a:latin typeface="Cambria" panose="02040503050406030204"/>
              <a:ea typeface="Cambria" panose="02040503050406030204"/>
            </a:endParaRPr>
          </a:p>
          <a:p>
            <a:pPr lvl="0"/>
            <a:r>
              <a:rPr lang="en-US" sz="2000" b="1" dirty="0">
                <a:solidFill>
                  <a:schemeClr val="accent1"/>
                </a:solidFill>
                <a:latin typeface="Cambria" panose="02040503050406030204"/>
                <a:ea typeface="+mn-lt"/>
                <a:cs typeface="+mn-lt"/>
                <a:sym typeface="Verdana" panose="020B0604030504040204"/>
              </a:rPr>
              <a:t>Name of the School Internship Coordinator: </a:t>
            </a:r>
            <a:r>
              <a:rPr lang="en-US" sz="2000" b="1" dirty="0">
                <a:solidFill>
                  <a:schemeClr val="tx1">
                    <a:lumMod val="95000"/>
                    <a:lumOff val="5000"/>
                  </a:schemeClr>
                </a:solidFill>
                <a:latin typeface="Cambria" panose="02040503050406030204"/>
                <a:ea typeface="+mn-lt"/>
                <a:cs typeface="+mn-lt"/>
                <a:sym typeface="Verdana" panose="020B0604030504040204"/>
              </a:rPr>
              <a:t>Dr. Md Ziaur Rahman</a:t>
            </a:r>
            <a:endParaRPr lang="en-US" b="1">
              <a:solidFill>
                <a:schemeClr val="tx1">
                  <a:lumMod val="95000"/>
                  <a:lumOff val="5000"/>
                </a:schemeClr>
              </a:solidFill>
              <a:latin typeface="Cambria" panose="02040503050406030204"/>
              <a:ea typeface="+mn-lt"/>
              <a:cs typeface="+mn-lt"/>
            </a:endParaRPr>
          </a:p>
          <a:p>
            <a:r>
              <a:rPr lang="en-US" sz="2000" b="1" dirty="0">
                <a:solidFill>
                  <a:schemeClr val="accent1"/>
                </a:solidFill>
                <a:latin typeface="Cambria" panose="02040503050406030204"/>
                <a:ea typeface="+mn-lt"/>
                <a:cs typeface="+mn-lt"/>
                <a:sym typeface="Verdana" panose="020B0604030504040204"/>
              </a:rPr>
              <a:t>                                                     </a:t>
            </a:r>
            <a:endParaRPr lang="en-US" b="1">
              <a:solidFill>
                <a:schemeClr val="accent1"/>
              </a:solidFill>
              <a:latin typeface="Cambria" panose="02040503050406030204"/>
              <a:ea typeface="Cambria" panose="02040503050406030204"/>
            </a:endParaRPr>
          </a:p>
          <a:p>
            <a:pPr>
              <a:buFont typeface="Arial" panose="020B0604020202020204"/>
            </a:pPr>
            <a:endParaRPr lang="en-US" sz="2000" b="1" i="0" u="none" strike="noStrike" cap="none" dirty="0">
              <a:solidFill>
                <a:schemeClr val="accent1"/>
              </a:solidFill>
              <a:latin typeface="Cambria" panose="02040503050406030204" pitchFamily="18" charset="0"/>
              <a:ea typeface="Cambria" panose="02040503050406030204" pitchFamily="18" charset="0"/>
              <a:cs typeface="Calibri" panose="020F0502020204030204"/>
            </a:endParaRPr>
          </a:p>
        </p:txBody>
      </p:sp>
      <p:sp>
        <p:nvSpPr>
          <p:cNvPr id="9" name="Title 1"/>
          <p:cNvSpPr txBox="1"/>
          <p:nvPr/>
        </p:nvSpPr>
        <p:spPr>
          <a:xfrm>
            <a:off x="838200" y="357170"/>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a:cs typeface="Times New Roman" panose="02020603050405020304"/>
              </a:rPr>
              <a:t>CSE7302 - INTERNSHIP</a:t>
            </a:r>
            <a:br>
              <a:rPr lang="en-IN" dirty="0">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a:ea typeface="Tahoma" panose="020B0604030504040204"/>
                <a:cs typeface="Times New Roman" panose="02020603050405020304"/>
              </a:rPr>
              <a:t>Review-2 Presentation </a:t>
            </a:r>
            <a:br>
              <a:rPr lang="en-US" sz="2400" dirty="0">
                <a:latin typeface="Times New Roman" panose="02020603050405020304" pitchFamily="18" charset="0"/>
                <a:ea typeface="Tahoma" panose="020B0604030504040204" pitchFamily="34" charset="0"/>
                <a:cs typeface="Times New Roman" panose="02020603050405020304" pitchFamily="18" charset="0"/>
              </a:rPr>
            </a:br>
            <a:r>
              <a:rPr lang="en-US" sz="2400" dirty="0">
                <a:latin typeface="Cambria" panose="02040503050406030204"/>
                <a:cs typeface="Times New Roman" panose="02020603050405020304"/>
              </a:rPr>
              <a:t>Project Title:</a:t>
            </a:r>
            <a:r>
              <a:rPr lang="en-US" sz="2400" b="0" dirty="0">
                <a:latin typeface="Cambria" panose="02040503050406030204"/>
                <a:cs typeface="Times New Roman" panose="02020603050405020304"/>
              </a:rPr>
              <a:t> </a:t>
            </a:r>
            <a:r>
              <a:rPr lang="en-IN" altLang="en-US" sz="2400" b="0" dirty="0">
                <a:latin typeface="Cambria" panose="02040503050406030204"/>
                <a:cs typeface="Times New Roman" panose="02020603050405020304"/>
              </a:rPr>
              <a:t>CampusCore - University ERP System</a:t>
            </a:r>
            <a:br>
              <a:rPr lang="en-US" sz="2400" b="0" dirty="0">
                <a:latin typeface="Cambria" panose="02040503050406030204"/>
                <a:cs typeface="Times New Roman" panose="02020603050405020304" pitchFamily="18" charset="0"/>
              </a:rPr>
            </a:br>
            <a:r>
              <a:rPr lang="en-US" sz="2400" b="0" dirty="0">
                <a:latin typeface="Cambria" panose="02040503050406030204"/>
                <a:cs typeface="Times New Roman" panose="02020603050405020304"/>
              </a:rPr>
              <a:t> </a:t>
            </a:r>
            <a:r>
              <a:rPr lang="en-US" sz="2400" dirty="0">
                <a:latin typeface="Cambria" panose="02040503050406030204"/>
                <a:cs typeface="Times New Roman" panose="02020603050405020304"/>
              </a:rPr>
              <a:t>Domain:</a:t>
            </a:r>
            <a:r>
              <a:rPr lang="en-US" sz="2400" b="0" dirty="0">
                <a:latin typeface="Cambria" panose="02040503050406030204"/>
                <a:cs typeface="Times New Roman" panose="02020603050405020304"/>
              </a:rPr>
              <a:t> Full Stack Web Development</a:t>
            </a:r>
            <a:br>
              <a:rPr lang="en-US" sz="2400" dirty="0">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gridCol w="3950282"/>
              </a:tblGrid>
              <a:tr h="362263">
                <a:tc gridSpan="2">
                  <a:txBody>
                    <a:bodyPr/>
                    <a:lstStyle/>
                    <a:p>
                      <a:pPr algn="ctr"/>
                      <a:endParaRPr lang="en-US" dirty="0">
                        <a:latin typeface="Cambria" panose="02040503050406030204"/>
                        <a:ea typeface="Cambria" panose="02040503050406030204"/>
                        <a:cs typeface="Times New Roman" panose="02020603050405020304"/>
                      </a:endParaRPr>
                    </a:p>
                  </a:txBody>
                  <a:tcPr/>
                </a:tc>
                <a:tc hMerge="1">
                  <a:tcPr/>
                </a:tc>
              </a:tr>
              <a:tr h="362263">
                <a:tc>
                  <a:txBody>
                    <a:bodyPr/>
                    <a:lstStyle/>
                    <a:p>
                      <a:pPr algn="l"/>
                      <a:endParaRPr lang="en-US" b="1" dirty="0">
                        <a:latin typeface="Cambria" panose="02040503050406030204"/>
                        <a:ea typeface="Cambria" panose="02040503050406030204"/>
                        <a:cs typeface="Times New Roman" panose="02020603050405020304"/>
                      </a:endParaRPr>
                    </a:p>
                  </a:txBody>
                  <a:tcPr/>
                </a:tc>
                <a:tc>
                  <a:txBody>
                    <a:bodyPr/>
                    <a:lstStyle/>
                    <a:p>
                      <a:pPr algn="ct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r h="362263">
                <a:tc>
                  <a:txBody>
                    <a:bodyPr/>
                    <a:lstStyle/>
                    <a:p>
                      <a:pPr algn="l"/>
                      <a:endParaRPr lang="en-US" b="1" dirty="0">
                        <a:latin typeface="Cambria" panose="02040503050406030204"/>
                        <a:ea typeface="Cambria" panose="02040503050406030204"/>
                        <a:cs typeface="Times New Roman" panose="02020603050405020304"/>
                      </a:endParaRPr>
                    </a:p>
                  </a:txBody>
                  <a:tcPr/>
                </a:tc>
                <a:tc>
                  <a:txBody>
                    <a:bodyPr/>
                    <a:lstStyle/>
                    <a:p>
                      <a:pPr algn="ct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r h="362263">
                <a:tc>
                  <a:txBody>
                    <a:bodyPr/>
                    <a:lstStyle/>
                    <a:p>
                      <a:pPr algn="l"/>
                      <a:endParaRPr lang="en-US" b="1" dirty="0">
                        <a:latin typeface="Cambria" panose="02040503050406030204"/>
                        <a:ea typeface="Cambria" panose="02040503050406030204"/>
                        <a:cs typeface="Times New Roman" panose="02020603050405020304"/>
                      </a:endParaRPr>
                    </a:p>
                  </a:txBody>
                  <a:tcPr/>
                </a:tc>
                <a:tc>
                  <a:txBody>
                    <a:bodyPr/>
                    <a:lstStyle/>
                    <a:p>
                      <a:pPr algn="ct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graphicFrame>
        <p:nvGraphicFramePr>
          <p:cNvPr id="3" name="Table 2"/>
          <p:cNvGraphicFramePr>
            <a:graphicFrameLocks noGrp="1"/>
          </p:cNvGraphicFramePr>
          <p:nvPr/>
        </p:nvGraphicFramePr>
        <p:xfrm>
          <a:off x="603593" y="1945503"/>
          <a:ext cx="5321300" cy="1422400"/>
        </p:xfrm>
        <a:graphic>
          <a:graphicData uri="http://schemas.openxmlformats.org/drawingml/2006/table">
            <a:tbl>
              <a:tblPr bandRow="1">
                <a:tableStyleId>{5C22544A-7EE6-4342-B048-85BDC9FD1C3A}</a:tableStyleId>
              </a:tblPr>
              <a:tblGrid>
                <a:gridCol w="1371600"/>
                <a:gridCol w="3949700"/>
              </a:tblGrid>
              <a:tr h="355600">
                <a:tc gridSpan="2">
                  <a:txBody>
                    <a:bodyPr/>
                    <a:lstStyle/>
                    <a:p>
                      <a:pPr algn="ctr" eaLnBrk="1" latinLnBrk="0" hangingPunct="1">
                        <a:buNone/>
                      </a:pPr>
                      <a:r>
                        <a:rPr lang="en-US" sz="1800" b="1" dirty="0">
                          <a:solidFill>
                            <a:srgbClr val="FFFFFF"/>
                          </a:solidFill>
                          <a:effectLst/>
                          <a:latin typeface="Cambria" panose="02040503050406030204"/>
                        </a:rPr>
                        <a:t>Student Details</a:t>
                      </a:r>
                      <a:endParaRPr lang="en-US" dirty="0">
                        <a:effectLst/>
                        <a:latin typeface="Cambria" panose="02040503050406030204"/>
                      </a:endParaRPr>
                    </a:p>
                  </a:txBody>
                  <a:tcPr marL="0" marR="0" marT="0" marB="0" anchor="ctr">
                    <a:lnL>
                      <a:noFill/>
                    </a:lnL>
                    <a:lnR>
                      <a:noFill/>
                    </a:lnR>
                    <a:lnT>
                      <a:noFill/>
                    </a:lnT>
                    <a:lnB>
                      <a:noFill/>
                    </a:lnB>
                    <a:noFill/>
                  </a:tcPr>
                </a:tc>
                <a:tc hMerge="1">
                  <a:tcPr/>
                </a:tc>
              </a:tr>
              <a:tr h="355600">
                <a:tc>
                  <a:txBody>
                    <a:bodyPr/>
                    <a:lstStyle/>
                    <a:p>
                      <a:pPr algn="ctr" eaLnBrk="1" latinLnBrk="0" hangingPunct="1">
                        <a:buNone/>
                      </a:pPr>
                      <a:r>
                        <a:rPr lang="en-US" sz="1800" b="1" dirty="0">
                          <a:solidFill>
                            <a:srgbClr val="000000"/>
                          </a:solidFill>
                          <a:effectLst/>
                          <a:latin typeface="Cambria" panose="02040503050406030204"/>
                        </a:rPr>
                        <a:t>Name</a:t>
                      </a:r>
                      <a:endParaRPr lang="en-US" dirty="0">
                        <a:effectLst/>
                        <a:latin typeface="Cambria" panose="02040503050406030204"/>
                      </a:endParaRPr>
                    </a:p>
                  </a:txBody>
                  <a:tcPr marL="0" marR="0" marT="0" marB="0" anchor="ctr">
                    <a:lnL>
                      <a:noFill/>
                    </a:lnL>
                    <a:lnR>
                      <a:noFill/>
                    </a:lnR>
                    <a:lnT>
                      <a:noFill/>
                    </a:lnT>
                    <a:lnB>
                      <a:noFill/>
                    </a:lnB>
                    <a:noFill/>
                  </a:tcPr>
                </a:tc>
                <a:tc>
                  <a:txBody>
                    <a:bodyPr/>
                    <a:lstStyle/>
                    <a:p>
                      <a:pPr algn="ctr" eaLnBrk="1" latinLnBrk="0" hangingPunct="1">
                        <a:buNone/>
                      </a:pPr>
                      <a:r>
                        <a:rPr lang="en-IN" altLang="en-US" dirty="0">
                          <a:effectLst/>
                          <a:latin typeface="Cambria" panose="02040503050406030204"/>
                        </a:rPr>
                        <a:t>Jayanth D R</a:t>
                      </a:r>
                      <a:endParaRPr lang="en-IN" altLang="en-US" dirty="0">
                        <a:effectLst/>
                        <a:latin typeface="Cambria" panose="02040503050406030204"/>
                      </a:endParaRPr>
                    </a:p>
                  </a:txBody>
                  <a:tcPr marL="0" marR="0" marT="0" marB="0" anchor="ctr">
                    <a:lnL>
                      <a:noFill/>
                    </a:lnL>
                    <a:lnR>
                      <a:noFill/>
                    </a:lnR>
                    <a:lnT>
                      <a:noFill/>
                    </a:lnT>
                    <a:lnB>
                      <a:noFill/>
                    </a:lnB>
                    <a:noFill/>
                  </a:tcPr>
                </a:tc>
              </a:tr>
              <a:tr h="355600">
                <a:tc>
                  <a:txBody>
                    <a:bodyPr/>
                    <a:lstStyle/>
                    <a:p>
                      <a:pPr algn="ctr" eaLnBrk="1" latinLnBrk="0" hangingPunct="1">
                        <a:buNone/>
                      </a:pPr>
                      <a:r>
                        <a:rPr lang="en-US" sz="1800" b="1" dirty="0">
                          <a:solidFill>
                            <a:srgbClr val="000000"/>
                          </a:solidFill>
                          <a:effectLst/>
                          <a:latin typeface="Cambria" panose="02040503050406030204"/>
                        </a:rPr>
                        <a:t>Roll No</a:t>
                      </a:r>
                      <a:endParaRPr lang="en-US" dirty="0">
                        <a:effectLst/>
                        <a:latin typeface="Cambria" panose="02040503050406030204"/>
                      </a:endParaRPr>
                    </a:p>
                  </a:txBody>
                  <a:tcPr marL="0" marR="0" marT="0" marB="0" anchor="ctr">
                    <a:lnL>
                      <a:noFill/>
                    </a:lnL>
                    <a:lnR>
                      <a:noFill/>
                    </a:lnR>
                    <a:lnT>
                      <a:noFill/>
                    </a:lnT>
                    <a:lnB>
                      <a:noFill/>
                    </a:lnB>
                    <a:noFill/>
                  </a:tcPr>
                </a:tc>
                <a:tc>
                  <a:txBody>
                    <a:bodyPr/>
                    <a:lstStyle/>
                    <a:p>
                      <a:pPr algn="ctr" eaLnBrk="1" latinLnBrk="0" hangingPunct="1">
                        <a:buNone/>
                      </a:pPr>
                      <a:r>
                        <a:rPr lang="en-US" sz="1800" dirty="0">
                          <a:solidFill>
                            <a:srgbClr val="000000"/>
                          </a:solidFill>
                          <a:effectLst/>
                          <a:latin typeface="Cambria" panose="02040503050406030204"/>
                        </a:rPr>
                        <a:t>202</a:t>
                      </a:r>
                      <a:r>
                        <a:rPr lang="en-IN" altLang="en-US" sz="1800" dirty="0">
                          <a:solidFill>
                            <a:srgbClr val="000000"/>
                          </a:solidFill>
                          <a:effectLst/>
                          <a:latin typeface="Cambria" panose="02040503050406030204"/>
                        </a:rPr>
                        <a:t>31CSE0636</a:t>
                      </a:r>
                      <a:endParaRPr lang="en-IN" altLang="en-US" sz="1800" dirty="0">
                        <a:solidFill>
                          <a:srgbClr val="000000"/>
                        </a:solidFill>
                        <a:effectLst/>
                        <a:latin typeface="Cambria" panose="02040503050406030204"/>
                      </a:endParaRPr>
                    </a:p>
                  </a:txBody>
                  <a:tcPr marL="0" marR="0" marT="0" marB="0" anchor="ctr">
                    <a:lnL>
                      <a:noFill/>
                    </a:lnL>
                    <a:lnR>
                      <a:noFill/>
                    </a:lnR>
                    <a:lnT>
                      <a:noFill/>
                    </a:lnT>
                    <a:lnB>
                      <a:noFill/>
                    </a:lnB>
                    <a:noFill/>
                  </a:tcPr>
                </a:tc>
              </a:tr>
              <a:tr h="355600">
                <a:tc>
                  <a:txBody>
                    <a:bodyPr/>
                    <a:lstStyle/>
                    <a:p>
                      <a:pPr algn="ctr" eaLnBrk="1" latinLnBrk="0" hangingPunct="1">
                        <a:buNone/>
                      </a:pPr>
                      <a:r>
                        <a:rPr lang="en-US" sz="1800" b="1" dirty="0">
                          <a:solidFill>
                            <a:srgbClr val="000000"/>
                          </a:solidFill>
                          <a:effectLst/>
                          <a:latin typeface="Cambria" panose="02040503050406030204"/>
                        </a:rPr>
                        <a:t>Section</a:t>
                      </a:r>
                      <a:endParaRPr lang="en-US" dirty="0">
                        <a:effectLst/>
                        <a:latin typeface="Cambria" panose="02040503050406030204"/>
                      </a:endParaRPr>
                    </a:p>
                  </a:txBody>
                  <a:tcPr marL="0" marR="0" marT="0" marB="0" anchor="ctr">
                    <a:lnL>
                      <a:noFill/>
                    </a:lnL>
                    <a:lnR>
                      <a:noFill/>
                    </a:lnR>
                    <a:lnT>
                      <a:noFill/>
                    </a:lnT>
                    <a:lnB>
                      <a:noFill/>
                    </a:lnB>
                    <a:noFill/>
                  </a:tcPr>
                </a:tc>
                <a:tc>
                  <a:txBody>
                    <a:bodyPr/>
                    <a:lstStyle/>
                    <a:p>
                      <a:pPr algn="ctr" eaLnBrk="1" latinLnBrk="0" hangingPunct="1">
                        <a:buNone/>
                      </a:pPr>
                      <a:r>
                        <a:rPr lang="en-US" sz="1800" dirty="0">
                          <a:solidFill>
                            <a:srgbClr val="000000"/>
                          </a:solidFill>
                          <a:effectLst/>
                          <a:latin typeface="Cambria" panose="02040503050406030204"/>
                        </a:rPr>
                        <a:t>8CSE1</a:t>
                      </a:r>
                      <a:r>
                        <a:rPr lang="en-IN" altLang="en-US" sz="1800" dirty="0">
                          <a:solidFill>
                            <a:srgbClr val="000000"/>
                          </a:solidFill>
                          <a:effectLst/>
                          <a:latin typeface="Cambria" panose="02040503050406030204"/>
                        </a:rPr>
                        <a:t>2</a:t>
                      </a:r>
                      <a:endParaRPr lang="en-IN" altLang="en-US" sz="1800" dirty="0">
                        <a:solidFill>
                          <a:srgbClr val="000000"/>
                        </a:solidFill>
                        <a:effectLst/>
                        <a:latin typeface="Cambria" panose="02040503050406030204"/>
                      </a:endParaRPr>
                    </a:p>
                  </a:txBody>
                  <a:tcPr marL="0" marR="0" marT="0" marB="0" anchor="ctr">
                    <a:lnL>
                      <a:noFill/>
                    </a:lnL>
                    <a:lnR>
                      <a:noFill/>
                    </a:lnR>
                    <a:lnT>
                      <a:noFill/>
                    </a:lnT>
                    <a:lnB>
                      <a:noFill/>
                    </a:lnB>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endParaRPr lang="en-US" sz="2000" b="1" dirty="0">
              <a:solidFill>
                <a:srgbClr val="0070C0"/>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5031"/>
            <a:ext cx="10515600" cy="4193176"/>
          </a:xfrm>
        </p:spPr>
        <p:txBody>
          <a:bodyPr vert="horz" lIns="91440" tIns="45720" rIns="91440" bIns="45720" rtlCol="0" anchor="t">
            <a:normAutofit/>
          </a:bodyPr>
          <a:lstStyle/>
          <a:p>
            <a:r>
              <a:rPr lang="en-US" b="1" dirty="0">
                <a:latin typeface="Times New Roman" panose="02020603050405020304"/>
                <a:ea typeface="+mn-lt"/>
                <a:cs typeface="+mn-lt"/>
              </a:rPr>
              <a:t>Company / Organization Name:</a:t>
            </a:r>
            <a:r>
              <a:rPr lang="en-US" dirty="0">
                <a:latin typeface="Times New Roman" panose="02020603050405020304"/>
                <a:ea typeface="+mn-lt"/>
                <a:cs typeface="+mn-lt"/>
              </a:rPr>
              <a:t> Rail Wheel Factory (RWF)</a:t>
            </a:r>
            <a:endParaRPr lang="en-US">
              <a:latin typeface="Times New Roman" panose="02020603050405020304"/>
              <a:ea typeface="Cambria" panose="02040503050406030204"/>
              <a:cs typeface="Times New Roman" panose="02020603050405020304"/>
            </a:endParaRPr>
          </a:p>
          <a:p>
            <a:r>
              <a:rPr lang="en-US" b="1" dirty="0">
                <a:latin typeface="Times New Roman" panose="02020603050405020304"/>
                <a:ea typeface="+mn-lt"/>
                <a:cs typeface="+mn-lt"/>
              </a:rPr>
              <a:t>Organization Type:</a:t>
            </a:r>
            <a:r>
              <a:rPr lang="en-US" dirty="0">
                <a:latin typeface="Times New Roman" panose="02020603050405020304"/>
                <a:ea typeface="+mn-lt"/>
                <a:cs typeface="+mn-lt"/>
              </a:rPr>
              <a:t> Government of India Enterprise(Under Ministry of Railways)</a:t>
            </a:r>
            <a:endParaRPr lang="en-US">
              <a:latin typeface="Times New Roman" panose="02020603050405020304"/>
              <a:ea typeface="Cambria" panose="02040503050406030204"/>
              <a:cs typeface="Times New Roman" panose="02020603050405020304"/>
            </a:endParaRPr>
          </a:p>
          <a:p>
            <a:r>
              <a:rPr lang="en-US" b="1" dirty="0">
                <a:latin typeface="Times New Roman" panose="02020603050405020304"/>
                <a:ea typeface="+mn-lt"/>
                <a:cs typeface="+mn-lt"/>
              </a:rPr>
              <a:t>Location:</a:t>
            </a:r>
            <a:r>
              <a:rPr lang="en-US" dirty="0">
                <a:latin typeface="Times New Roman" panose="02020603050405020304"/>
                <a:ea typeface="+mn-lt"/>
                <a:cs typeface="+mn-lt"/>
              </a:rPr>
              <a:t> Yelahanka, Bengaluru, Karnataka</a:t>
            </a:r>
            <a:endParaRPr lang="en-US">
              <a:latin typeface="Times New Roman" panose="02020603050405020304"/>
              <a:ea typeface="Cambria" panose="02040503050406030204"/>
              <a:cs typeface="Times New Roman" panose="02020603050405020304"/>
            </a:endParaRPr>
          </a:p>
          <a:p>
            <a:r>
              <a:rPr lang="en-US" b="1" dirty="0">
                <a:latin typeface="Times New Roman" panose="02020603050405020304"/>
                <a:ea typeface="+mn-lt"/>
                <a:cs typeface="+mn-lt"/>
              </a:rPr>
              <a:t>Overview:</a:t>
            </a:r>
            <a:r>
              <a:rPr lang="en-US" dirty="0">
                <a:latin typeface="Times New Roman" panose="02020603050405020304"/>
                <a:ea typeface="+mn-lt"/>
                <a:cs typeface="+mn-lt"/>
              </a:rPr>
              <a:t> Rail Wheel Factory (RWF) is a premier manufacturing unit of Indian Railways, established to manufacture cast steel wheels and axles used in railway rolling stock across India.</a:t>
            </a:r>
            <a:endParaRPr lang="en-US" dirty="0">
              <a:latin typeface="Times New Roman" panose="02020603050405020304"/>
              <a:ea typeface="+mn-lt"/>
              <a:cs typeface="+mn-lt"/>
            </a:endParaRPr>
          </a:p>
          <a:p>
            <a:endParaRPr lang="en-US" dirty="0">
              <a:latin typeface="Times New Roman" panose="02020603050405020304"/>
              <a:ea typeface="Cambria" panose="02040503050406030204"/>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05303" cy="4377410"/>
          </a:xfrm>
        </p:spPr>
        <p:txBody>
          <a:bodyPr vert="horz" lIns="91440" tIns="45720" rIns="91440" bIns="45720" rtlCol="0" anchor="t">
            <a:normAutofit fontScale="92500" lnSpcReduction="10000"/>
          </a:bodyPr>
          <a:lstStyle/>
          <a:p>
            <a:r>
              <a:rPr lang="en-IN" b="1" dirty="0">
                <a:latin typeface="Times New Roman" panose="02020603050405020304"/>
                <a:ea typeface="+mn-lt"/>
                <a:cs typeface="+mn-lt"/>
              </a:rPr>
              <a:t>Internship Domain:</a:t>
            </a:r>
            <a:r>
              <a:rPr lang="en-IN" dirty="0">
                <a:latin typeface="Times New Roman" panose="02020603050405020304"/>
                <a:ea typeface="+mn-lt"/>
                <a:cs typeface="+mn-lt"/>
              </a:rPr>
              <a:t> Full Stack Web Development</a:t>
            </a:r>
            <a:endParaRPr lang="en-US" dirty="0">
              <a:latin typeface="Times New Roman" panose="02020603050405020304"/>
              <a:cs typeface="Times New Roman" panose="02020603050405020304"/>
            </a:endParaRPr>
          </a:p>
          <a:p>
            <a:r>
              <a:rPr lang="en-IN" b="1" dirty="0">
                <a:latin typeface="Times New Roman" panose="02020603050405020304"/>
                <a:ea typeface="+mn-lt"/>
                <a:cs typeface="+mn-lt"/>
              </a:rPr>
              <a:t>Technologies Used:</a:t>
            </a:r>
            <a:endParaRPr lang="en-IN">
              <a:latin typeface="Times New Roman" panose="02020603050405020304"/>
              <a:cs typeface="Times New Roman" panose="02020603050405020304"/>
            </a:endParaRPr>
          </a:p>
          <a:p>
            <a:pPr marL="0" indent="0">
              <a:buNone/>
            </a:pPr>
            <a:r>
              <a:rPr lang="en-IN" b="1" dirty="0">
                <a:latin typeface="Times New Roman" panose="02020603050405020304"/>
                <a:ea typeface="+mn-lt"/>
                <a:cs typeface="+mn-lt"/>
              </a:rPr>
              <a:t> Frontend:</a:t>
            </a:r>
            <a:r>
              <a:rPr lang="en-IN" dirty="0">
                <a:latin typeface="Times New Roman" panose="02020603050405020304"/>
                <a:ea typeface="+mn-lt"/>
                <a:cs typeface="+mn-lt"/>
              </a:rPr>
              <a:t> HTML, CSS, JavaScript</a:t>
            </a:r>
            <a:endParaRPr lang="en-IN" dirty="0">
              <a:latin typeface="Times New Roman" panose="02020603050405020304"/>
              <a:ea typeface="Calibri" panose="020F0502020204030204"/>
              <a:cs typeface="Calibri" panose="020F0502020204030204"/>
            </a:endParaRPr>
          </a:p>
          <a:p>
            <a:pPr marL="0" indent="0">
              <a:buNone/>
            </a:pPr>
            <a:r>
              <a:rPr lang="en-IN" b="1" dirty="0">
                <a:latin typeface="Times New Roman" panose="02020603050405020304"/>
                <a:ea typeface="+mn-lt"/>
                <a:cs typeface="+mn-lt"/>
              </a:rPr>
              <a:t> Backend:</a:t>
            </a:r>
            <a:r>
              <a:rPr lang="en-IN" dirty="0">
                <a:latin typeface="Times New Roman" panose="02020603050405020304"/>
                <a:ea typeface="+mn-lt"/>
                <a:cs typeface="+mn-lt"/>
              </a:rPr>
              <a:t> Python (Flask – REST API)</a:t>
            </a:r>
            <a:endParaRPr lang="en-IN" dirty="0">
              <a:latin typeface="Times New Roman" panose="02020603050405020304"/>
              <a:ea typeface="Calibri" panose="020F0502020204030204"/>
              <a:cs typeface="Calibri" panose="020F0502020204030204"/>
            </a:endParaRPr>
          </a:p>
          <a:p>
            <a:pPr marL="0" indent="0">
              <a:buNone/>
            </a:pPr>
            <a:r>
              <a:rPr lang="en-IN" b="1" dirty="0">
                <a:latin typeface="Times New Roman" panose="02020603050405020304"/>
                <a:ea typeface="+mn-lt"/>
                <a:cs typeface="+mn-lt"/>
              </a:rPr>
              <a:t> Database:</a:t>
            </a:r>
            <a:r>
              <a:rPr lang="en-IN" dirty="0">
                <a:latin typeface="Times New Roman" panose="02020603050405020304"/>
                <a:ea typeface="+mn-lt"/>
                <a:cs typeface="+mn-lt"/>
              </a:rPr>
              <a:t> SQL Server</a:t>
            </a:r>
            <a:endParaRPr lang="en-IN" dirty="0">
              <a:latin typeface="Times New Roman" panose="02020603050405020304"/>
              <a:ea typeface="Calibri" panose="020F0502020204030204"/>
              <a:cs typeface="Calibri" panose="020F0502020204030204"/>
            </a:endParaRPr>
          </a:p>
          <a:p>
            <a:pPr marL="0" indent="0">
              <a:buNone/>
            </a:pPr>
            <a:r>
              <a:rPr lang="en-IN" b="1" dirty="0">
                <a:latin typeface="Times New Roman" panose="02020603050405020304"/>
                <a:ea typeface="+mn-lt"/>
                <a:cs typeface="+mn-lt"/>
              </a:rPr>
              <a:t> API Testing:</a:t>
            </a:r>
            <a:r>
              <a:rPr lang="en-IN" dirty="0">
                <a:latin typeface="Times New Roman" panose="02020603050405020304"/>
                <a:ea typeface="+mn-lt"/>
                <a:cs typeface="+mn-lt"/>
              </a:rPr>
              <a:t> Postman</a:t>
            </a:r>
            <a:endParaRPr lang="en-IN" dirty="0">
              <a:latin typeface="Times New Roman" panose="02020603050405020304"/>
              <a:ea typeface="Calibri" panose="020F0502020204030204"/>
              <a:cs typeface="Calibri" panose="020F0502020204030204"/>
            </a:endParaRPr>
          </a:p>
          <a:p>
            <a:pPr marL="0" indent="0">
              <a:buNone/>
            </a:pPr>
            <a:r>
              <a:rPr lang="en-IN" b="1" dirty="0">
                <a:latin typeface="Times New Roman" panose="02020603050405020304"/>
                <a:ea typeface="+mn-lt"/>
                <a:cs typeface="+mn-lt"/>
              </a:rPr>
              <a:t> Version Control:</a:t>
            </a:r>
            <a:r>
              <a:rPr lang="en-IN" dirty="0">
                <a:latin typeface="Times New Roman" panose="02020603050405020304"/>
                <a:ea typeface="+mn-lt"/>
                <a:cs typeface="+mn-lt"/>
              </a:rPr>
              <a:t> GitHub</a:t>
            </a:r>
            <a:endParaRPr lang="en-IN" dirty="0">
              <a:latin typeface="Times New Roman" panose="02020603050405020304"/>
              <a:ea typeface="Calibri" panose="020F0502020204030204"/>
              <a:cs typeface="Calibri" panose="020F0502020204030204"/>
            </a:endParaRPr>
          </a:p>
          <a:p>
            <a:r>
              <a:rPr lang="en-IN" b="1" dirty="0">
                <a:latin typeface="Times New Roman" panose="02020603050405020304"/>
                <a:ea typeface="+mn-lt"/>
                <a:cs typeface="+mn-lt"/>
              </a:rPr>
              <a:t>Importance:</a:t>
            </a:r>
            <a:br>
              <a:rPr lang="en-IN" dirty="0">
                <a:latin typeface="Times New Roman" panose="02020603050405020304"/>
                <a:ea typeface="+mn-lt"/>
                <a:cs typeface="+mn-lt"/>
              </a:rPr>
            </a:br>
            <a:r>
              <a:rPr lang="en-IN" dirty="0">
                <a:latin typeface="Times New Roman" panose="02020603050405020304"/>
                <a:ea typeface="+mn-lt"/>
                <a:cs typeface="+mn-lt"/>
              </a:rPr>
              <a:t> Full stack development enables building complete applications by integrating user interface, backend logic, and database systems.</a:t>
            </a:r>
            <a:endParaRPr lang="en-IN" dirty="0">
              <a:latin typeface="Times New Roman" panose="02020603050405020304"/>
              <a:ea typeface="+mn-lt"/>
              <a:cs typeface="+mn-lt"/>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vert="horz" lIns="91440" tIns="45720" rIns="91440" bIns="45720" rtlCol="0" anchor="t">
            <a:normAutofit/>
          </a:bodyPr>
          <a:lstStyle/>
          <a:p>
            <a:r>
              <a:rPr lang="en-IN" b="1" dirty="0">
                <a:latin typeface="Times New Roman" panose="02020603050405020304"/>
                <a:ea typeface="+mn-lt"/>
                <a:cs typeface="+mn-lt"/>
              </a:rPr>
              <a:t>Work Environment:</a:t>
            </a:r>
            <a:endParaRPr lang="en-US" b="1" dirty="0">
              <a:latin typeface="Times New Roman" panose="02020603050405020304"/>
              <a:cs typeface="Times New Roman" panose="02020603050405020304"/>
            </a:endParaRPr>
          </a:p>
          <a:p>
            <a:pPr marL="0" indent="0">
              <a:buNone/>
            </a:pPr>
            <a:r>
              <a:rPr lang="en-IN" dirty="0">
                <a:latin typeface="Times New Roman" panose="02020603050405020304"/>
                <a:ea typeface="+mn-lt"/>
                <a:cs typeface="+mn-lt"/>
              </a:rPr>
              <a:t> Large-scale industrial manufacturing setup</a:t>
            </a:r>
            <a:endParaRPr lang="en-IN" dirty="0">
              <a:latin typeface="Times New Roman" panose="02020603050405020304"/>
              <a:cs typeface="Times New Roman" panose="02020603050405020304"/>
            </a:endParaRPr>
          </a:p>
          <a:p>
            <a:pPr marL="0" indent="0">
              <a:buNone/>
            </a:pPr>
            <a:r>
              <a:rPr lang="en-IN" dirty="0">
                <a:latin typeface="Times New Roman" panose="02020603050405020304"/>
                <a:ea typeface="+mn-lt"/>
                <a:cs typeface="+mn-lt"/>
              </a:rPr>
              <a:t> Strict safety and quality standards</a:t>
            </a:r>
            <a:endParaRPr lang="en-IN">
              <a:latin typeface="Times New Roman" panose="02020603050405020304"/>
              <a:cs typeface="Times New Roman" panose="02020603050405020304"/>
            </a:endParaRPr>
          </a:p>
          <a:p>
            <a:pPr marL="0" indent="0">
              <a:buNone/>
            </a:pPr>
            <a:r>
              <a:rPr lang="en-IN" dirty="0">
                <a:latin typeface="Times New Roman" panose="02020603050405020304"/>
                <a:ea typeface="+mn-lt"/>
                <a:cs typeface="+mn-lt"/>
              </a:rPr>
              <a:t> Combination of mechanical operations and IT systems</a:t>
            </a:r>
            <a:endParaRPr lang="en-IN" dirty="0">
              <a:latin typeface="Times New Roman" panose="02020603050405020304"/>
              <a:cs typeface="Times New Roman" panose="02020603050405020304"/>
            </a:endParaRPr>
          </a:p>
          <a:p>
            <a:r>
              <a:rPr lang="en-IN" b="1" dirty="0">
                <a:latin typeface="Times New Roman" panose="02020603050405020304"/>
                <a:ea typeface="+mn-lt"/>
                <a:cs typeface="+mn-lt"/>
              </a:rPr>
              <a:t>Learning Exposure:</a:t>
            </a:r>
            <a:endParaRPr lang="en-IN" b="1" dirty="0">
              <a:latin typeface="Times New Roman" panose="02020603050405020304"/>
              <a:cs typeface="Times New Roman" panose="02020603050405020304"/>
            </a:endParaRPr>
          </a:p>
          <a:p>
            <a:pPr marL="0" indent="0">
              <a:buNone/>
            </a:pPr>
            <a:r>
              <a:rPr lang="en-IN" dirty="0">
                <a:latin typeface="Times New Roman" panose="02020603050405020304"/>
                <a:ea typeface="+mn-lt"/>
                <a:cs typeface="+mn-lt"/>
              </a:rPr>
              <a:t> I​industrial workflows</a:t>
            </a:r>
            <a:endParaRPr lang="en-IN" dirty="0">
              <a:latin typeface="Times New Roman" panose="02020603050405020304"/>
              <a:cs typeface="Times New Roman" panose="02020603050405020304"/>
            </a:endParaRPr>
          </a:p>
          <a:p>
            <a:pPr marL="0" indent="0">
              <a:buNone/>
            </a:pPr>
            <a:r>
              <a:rPr lang="en-IN" dirty="0">
                <a:latin typeface="Times New Roman" panose="02020603050405020304"/>
                <a:ea typeface="+mn-lt"/>
                <a:cs typeface="+mn-lt"/>
              </a:rPr>
              <a:t> Use of technology for monitoring and reporting</a:t>
            </a:r>
            <a:endParaRPr lang="en-IN" dirty="0">
              <a:latin typeface="Times New Roman" panose="02020603050405020304"/>
              <a:ea typeface="+mn-lt"/>
              <a:cs typeface="+mn-lt"/>
            </a:endParaRPr>
          </a:p>
          <a:p>
            <a:pPr marL="0" indent="0">
              <a:buNone/>
            </a:pPr>
            <a:r>
              <a:rPr lang="en-IN" dirty="0">
                <a:latin typeface="Times New Roman" panose="02020603050405020304"/>
                <a:ea typeface="+mn-lt"/>
                <a:cs typeface="+mn-lt"/>
              </a:rPr>
              <a:t> Understanding real-time production data</a:t>
            </a:r>
            <a:endParaRPr lang="en-IN" dirty="0">
              <a:latin typeface="Times New Roman" panose="02020603050405020304"/>
              <a:cs typeface="Times New Roman" panose="02020603050405020304"/>
            </a:endParaRPr>
          </a:p>
          <a:p>
            <a:endParaRPr lang="en-IN" b="1" dirty="0">
              <a:latin typeface="Times New Roman" panose="02020603050405020304"/>
              <a:cs typeface="Times New Roman" panose="02020603050405020304"/>
            </a:endParaRPr>
          </a:p>
          <a:p>
            <a:endParaRPr lang="en-IN"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a:bodyPr>
          <a:lstStyle/>
          <a:p>
            <a:r>
              <a:rPr lang="en-IN" sz="2800" b="1" dirty="0">
                <a:solidFill>
                  <a:schemeClr val="accent1">
                    <a:lumMod val="76000"/>
                  </a:schemeClr>
                </a:solidFill>
                <a:latin typeface="Cambria" panose="02040503050406030204"/>
                <a:ea typeface="Calibri" panose="020F0502020204030204"/>
                <a:cs typeface="Calibri" panose="020F0502020204030204"/>
              </a:rPr>
              <a:t>PROJECT TITLE &amp; DESCRIPTION</a:t>
            </a:r>
            <a:endParaRPr lang="en-US" sz="2800" b="1">
              <a:solidFill>
                <a:schemeClr val="accent1">
                  <a:lumMod val="76000"/>
                </a:schemeClr>
              </a:solidFill>
              <a:latin typeface="Cambria" panose="02040503050406030204"/>
              <a:ea typeface="Cambria" panose="02040503050406030204"/>
            </a:endParaRPr>
          </a:p>
        </p:txBody>
      </p:sp>
      <p:sp>
        <p:nvSpPr>
          <p:cNvPr id="3" name="Content Placeholder 2"/>
          <p:cNvSpPr>
            <a:spLocks noGrp="1"/>
          </p:cNvSpPr>
          <p:nvPr>
            <p:ph idx="1"/>
          </p:nvPr>
        </p:nvSpPr>
        <p:spPr>
          <a:xfrm>
            <a:off x="838200" y="1184367"/>
            <a:ext cx="10515600" cy="4058194"/>
          </a:xfrm>
        </p:spPr>
        <p:txBody>
          <a:bodyPr vert="horz" lIns="91440" tIns="45720" rIns="91440" bIns="45720" rtlCol="0" anchor="t">
            <a:normAutofit/>
          </a:bodyPr>
          <a:lstStyle/>
          <a:p>
            <a:r>
              <a:rPr lang="en-IN" b="1" dirty="0">
                <a:latin typeface="Times New Roman" panose="02020603050405020304"/>
                <a:ea typeface="+mn-lt"/>
                <a:cs typeface="+mn-lt"/>
              </a:rPr>
              <a:t>Project Title:</a:t>
            </a:r>
            <a:r>
              <a:rPr lang="en-IN" dirty="0">
                <a:latin typeface="Times New Roman" panose="02020603050405020304"/>
                <a:ea typeface="+mn-lt"/>
                <a:cs typeface="+mn-lt"/>
              </a:rPr>
              <a:t> EduTrack Pro – Student Management System</a:t>
            </a:r>
            <a:endParaRPr lang="en-IN">
              <a:latin typeface="Times New Roman" panose="02020603050405020304"/>
              <a:ea typeface="Calibri" panose="020F0502020204030204"/>
              <a:cs typeface="Calibri" panose="020F0502020204030204"/>
            </a:endParaRPr>
          </a:p>
          <a:p>
            <a:r>
              <a:rPr lang="en-IN" b="1">
                <a:latin typeface="Times New Roman" panose="02020603050405020304"/>
                <a:ea typeface="+mn-lt"/>
                <a:cs typeface="+mn-lt"/>
              </a:rPr>
              <a:t>Description</a:t>
            </a:r>
            <a:r>
              <a:rPr lang="en-IN">
                <a:latin typeface="Times New Roman" panose="02020603050405020304"/>
                <a:ea typeface="+mn-lt"/>
                <a:cs typeface="+mn-lt"/>
              </a:rPr>
              <a:t>:</a:t>
            </a:r>
            <a:br>
              <a:rPr lang="en-IN" dirty="0">
                <a:latin typeface="Times New Roman" panose="02020603050405020304"/>
                <a:ea typeface="+mn-lt"/>
                <a:cs typeface="+mn-lt"/>
              </a:rPr>
            </a:br>
            <a:r>
              <a:rPr lang="en-IN" dirty="0">
                <a:latin typeface="Times New Roman" panose="02020603050405020304"/>
                <a:ea typeface="+mn-lt"/>
                <a:cs typeface="+mn-lt"/>
              </a:rPr>
              <a:t> EduTrack Pro is a web-based application developed to manage student details efficiently.</a:t>
            </a:r>
            <a:br>
              <a:rPr lang="en-IN" dirty="0">
                <a:latin typeface="Times New Roman" panose="02020603050405020304"/>
                <a:ea typeface="+mn-lt"/>
                <a:cs typeface="+mn-lt"/>
              </a:rPr>
            </a:br>
            <a:r>
              <a:rPr lang="en-IN" dirty="0">
                <a:latin typeface="Times New Roman" panose="02020603050405020304"/>
                <a:ea typeface="+mn-lt"/>
                <a:cs typeface="+mn-lt"/>
              </a:rPr>
              <a:t> It allows users to securely store, retrieve, update, and delete student information through an easy-to-use interface.</a:t>
            </a:r>
            <a:endParaRPr lang="en-IN">
              <a:latin typeface="Times New Roman" panose="02020603050405020304"/>
              <a:ea typeface="Calibri" panose="020F0502020204030204"/>
              <a:cs typeface="Calibri" panose="020F0502020204030204"/>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vert="horz" lIns="91440" tIns="45720" rIns="91440" bIns="45720" rtlCol="0" anchor="t">
            <a:normAutofit/>
          </a:bodyPr>
          <a:lstStyle/>
          <a:p>
            <a:r>
              <a:rPr lang="en-IN" dirty="0">
                <a:latin typeface="Times New Roman" panose="02020603050405020304"/>
                <a:ea typeface="+mn-lt"/>
                <a:cs typeface="+mn-lt"/>
              </a:rPr>
              <a:t>To develop a centralized student management system</a:t>
            </a:r>
            <a:endParaRPr lang="en-US" dirty="0">
              <a:latin typeface="Times New Roman" panose="02020603050405020304"/>
              <a:cs typeface="Times New Roman" panose="02020603050405020304"/>
            </a:endParaRPr>
          </a:p>
          <a:p>
            <a:r>
              <a:rPr lang="en-IN" dirty="0">
                <a:latin typeface="Times New Roman" panose="02020603050405020304"/>
                <a:ea typeface="+mn-lt"/>
                <a:cs typeface="+mn-lt"/>
              </a:rPr>
              <a:t>To perform CRUD operations on student records</a:t>
            </a:r>
            <a:endParaRPr lang="en-IN" dirty="0">
              <a:latin typeface="Times New Roman" panose="02020603050405020304"/>
              <a:cs typeface="Times New Roman" panose="02020603050405020304"/>
            </a:endParaRPr>
          </a:p>
          <a:p>
            <a:r>
              <a:rPr lang="en-IN" dirty="0">
                <a:latin typeface="Times New Roman" panose="02020603050405020304"/>
                <a:ea typeface="+mn-lt"/>
                <a:cs typeface="+mn-lt"/>
              </a:rPr>
              <a:t>To ensure secure login and authentication</a:t>
            </a:r>
            <a:endParaRPr lang="en-IN" dirty="0">
              <a:latin typeface="Times New Roman" panose="02020603050405020304"/>
              <a:cs typeface="Times New Roman" panose="02020603050405020304"/>
            </a:endParaRPr>
          </a:p>
          <a:p>
            <a:r>
              <a:rPr lang="en-IN" dirty="0">
                <a:latin typeface="Times New Roman" panose="02020603050405020304"/>
                <a:ea typeface="+mn-lt"/>
                <a:cs typeface="+mn-lt"/>
              </a:rPr>
              <a:t>To reduce manual paperwork and errors</a:t>
            </a:r>
            <a:endParaRPr lang="en-IN" dirty="0">
              <a:latin typeface="Times New Roman" panose="02020603050405020304"/>
              <a:cs typeface="Times New Roman" panose="02020603050405020304"/>
            </a:endParaRPr>
          </a:p>
          <a:p>
            <a:r>
              <a:rPr lang="en-IN" dirty="0">
                <a:latin typeface="Times New Roman" panose="02020603050405020304"/>
                <a:ea typeface="+mn-lt"/>
                <a:cs typeface="+mn-lt"/>
              </a:rPr>
              <a:t>To improve efficiency in handling student data</a:t>
            </a:r>
            <a:endParaRPr lang="en-IN" dirty="0">
              <a:latin typeface="Times New Roman" panose="02020603050405020304"/>
              <a:cs typeface="Times New Roman" panose="02020603050405020304"/>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7207"/>
            <a:ext cx="10515600" cy="4058194"/>
          </a:xfrm>
        </p:spPr>
        <p:txBody>
          <a:bodyPr vert="horz" lIns="91440" tIns="45720" rIns="91440" bIns="45720" rtlCol="0" anchor="t">
            <a:noAutofit/>
          </a:bodyPr>
          <a:lstStyle/>
          <a:p>
            <a:r>
              <a:rPr lang="en-IN" sz="2600" dirty="0">
                <a:latin typeface="Times New Roman" panose="02020603050405020304"/>
                <a:ea typeface="+mn-lt"/>
                <a:cs typeface="+mn-lt"/>
              </a:rPr>
              <a:t>Traditional student record management systems are mostly manual or semi-automated, leading to data redundancy, inconsistency, and difficulty in maintenance.</a:t>
            </a:r>
            <a:endParaRPr lang="en-IN" sz="2600">
              <a:latin typeface="Times New Roman" panose="02020603050405020304"/>
              <a:cs typeface="Times New Roman" panose="02020603050405020304" pitchFamily="18" charset="0"/>
            </a:endParaRPr>
          </a:p>
          <a:p>
            <a:r>
              <a:rPr lang="en-IN" sz="2600">
                <a:latin typeface="Times New Roman" panose="02020603050405020304"/>
                <a:ea typeface="+mn-lt"/>
                <a:cs typeface="+mn-lt"/>
              </a:rPr>
              <a:t>Existing web-based student management systems focus on basic data storage but often lack proper integration between frontend and backend layers.</a:t>
            </a:r>
            <a:endParaRPr lang="en-IN" sz="2600">
              <a:latin typeface="Times New Roman" panose="02020603050405020304"/>
              <a:cs typeface="Times New Roman" panose="02020603050405020304"/>
            </a:endParaRPr>
          </a:p>
          <a:p>
            <a:r>
              <a:rPr lang="en-IN" sz="2600" dirty="0">
                <a:latin typeface="Times New Roman" panose="02020603050405020304"/>
                <a:ea typeface="+mn-lt"/>
                <a:cs typeface="+mn-lt"/>
              </a:rPr>
              <a:t>Studies on full stack web applications highlight the importance of REST APIs for efficient communication between client and server.</a:t>
            </a:r>
            <a:endParaRPr lang="en-IN" sz="2600">
              <a:latin typeface="Times New Roman" panose="02020603050405020304"/>
              <a:cs typeface="Times New Roman" panose="02020603050405020304"/>
            </a:endParaRPr>
          </a:p>
          <a:p>
            <a:r>
              <a:rPr lang="en-IN" sz="2600" dirty="0">
                <a:latin typeface="Times New Roman" panose="02020603050405020304"/>
                <a:ea typeface="+mn-lt"/>
                <a:cs typeface="+mn-lt"/>
              </a:rPr>
              <a:t>Research suggests that centralized database systems improve data integrity, security, and accessibility compared to decentralized record keeping.</a:t>
            </a:r>
            <a:endParaRPr lang="en-IN" sz="2600">
              <a:latin typeface="Times New Roman" panose="02020603050405020304"/>
              <a:cs typeface="Times New Roman" panose="02020603050405020304"/>
            </a:endParaRPr>
          </a:p>
          <a:p>
            <a:r>
              <a:rPr lang="en-IN" sz="2600" dirty="0">
                <a:latin typeface="Times New Roman" panose="02020603050405020304"/>
                <a:ea typeface="+mn-lt"/>
                <a:cs typeface="+mn-lt"/>
              </a:rPr>
              <a:t>Modern frameworks such as Flask provide lightweight and scalable solutions for building secure backend services.</a:t>
            </a:r>
            <a:endParaRPr lang="en-IN" sz="2600">
              <a:latin typeface="Times New Roman" panose="02020603050405020304"/>
              <a:cs typeface="Times New Roman" panose="02020603050405020304"/>
            </a:endParaRPr>
          </a:p>
          <a:p>
            <a:endParaRPr lang="en-IN"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vert="horz" lIns="91440" tIns="45720" rIns="91440" bIns="45720" rtlCol="0" anchor="t">
            <a:normAutofit/>
          </a:bodyPr>
          <a:lstStyle/>
          <a:p>
            <a:r>
              <a:rPr lang="en-IN" dirty="0">
                <a:latin typeface="Times New Roman" panose="02020603050405020304"/>
                <a:ea typeface="+mn-lt"/>
                <a:cs typeface="+mn-lt"/>
              </a:rPr>
              <a:t>User Signup &amp; Login Authentication</a:t>
            </a:r>
            <a:endParaRPr lang="en-IN" dirty="0">
              <a:latin typeface="Times New Roman" panose="02020603050405020304"/>
              <a:cs typeface="Times New Roman" panose="02020603050405020304" pitchFamily="18" charset="0"/>
            </a:endParaRPr>
          </a:p>
          <a:p>
            <a:r>
              <a:rPr lang="en-IN">
                <a:latin typeface="Times New Roman" panose="02020603050405020304"/>
                <a:ea typeface="+mn-lt"/>
                <a:cs typeface="+mn-lt"/>
              </a:rPr>
              <a:t>Add Student Details</a:t>
            </a:r>
            <a:endParaRPr lang="en-IN">
              <a:latin typeface="Times New Roman" panose="02020603050405020304"/>
              <a:cs typeface="Times New Roman" panose="02020603050405020304"/>
            </a:endParaRPr>
          </a:p>
          <a:p>
            <a:r>
              <a:rPr lang="en-IN">
                <a:latin typeface="Times New Roman" panose="02020603050405020304"/>
                <a:ea typeface="+mn-lt"/>
                <a:cs typeface="+mn-lt"/>
              </a:rPr>
              <a:t>View Student Details in Table Format</a:t>
            </a:r>
            <a:endParaRPr lang="en-IN">
              <a:latin typeface="Times New Roman" panose="02020603050405020304"/>
              <a:cs typeface="Times New Roman" panose="02020603050405020304"/>
            </a:endParaRPr>
          </a:p>
          <a:p>
            <a:r>
              <a:rPr lang="en-IN" dirty="0">
                <a:latin typeface="Times New Roman" panose="02020603050405020304"/>
                <a:ea typeface="+mn-lt"/>
                <a:cs typeface="+mn-lt"/>
              </a:rPr>
              <a:t>Update Student Information (Dropdown Selection)</a:t>
            </a:r>
            <a:endParaRPr lang="en-IN" dirty="0">
              <a:latin typeface="Times New Roman" panose="02020603050405020304"/>
              <a:cs typeface="Times New Roman" panose="02020603050405020304"/>
            </a:endParaRPr>
          </a:p>
          <a:p>
            <a:r>
              <a:rPr lang="en-IN" dirty="0">
                <a:latin typeface="Times New Roman" panose="02020603050405020304"/>
                <a:ea typeface="+mn-lt"/>
                <a:cs typeface="+mn-lt"/>
              </a:rPr>
              <a:t>Delete Student Records</a:t>
            </a:r>
            <a:endParaRPr lang="en-IN" dirty="0">
              <a:latin typeface="Times New Roman" panose="02020603050405020304"/>
              <a:cs typeface="Times New Roman" panose="02020603050405020304"/>
            </a:endParaRPr>
          </a:p>
          <a:p>
            <a:r>
              <a:rPr lang="en-IN" dirty="0">
                <a:latin typeface="Times New Roman" panose="02020603050405020304"/>
                <a:ea typeface="+mn-lt"/>
                <a:cs typeface="+mn-lt"/>
              </a:rPr>
              <a:t>REST API based backend architecture</a:t>
            </a:r>
            <a:endParaRPr lang="en-IN" dirty="0">
              <a:latin typeface="Times New Roman" panose="02020603050405020304"/>
              <a:cs typeface="Times New Roman" panose="02020603050405020304"/>
            </a:endParaRPr>
          </a:p>
          <a:p>
            <a:r>
              <a:rPr lang="en-IN" dirty="0">
                <a:latin typeface="Times New Roman" panose="02020603050405020304"/>
                <a:ea typeface="+mn-lt"/>
                <a:cs typeface="+mn-lt"/>
              </a:rPr>
              <a:t>Frontend and backend integration</a:t>
            </a:r>
            <a:endParaRPr lang="en-IN" dirty="0">
              <a:latin typeface="Times New Roman" panose="02020603050405020304"/>
              <a:cs typeface="Times New Roman" panose="02020603050405020304"/>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vert="horz" lIns="91440" tIns="45720" rIns="91440" bIns="45720" rtlCol="0" anchor="t">
            <a:normAutofit/>
          </a:bodyPr>
          <a:lstStyle/>
          <a:p>
            <a:pPr>
              <a:buFont typeface="Arial" panose="020B0604020202020204"/>
              <a:buChar char="•"/>
            </a:pPr>
            <a:r>
              <a:rPr lang="en-IN">
                <a:latin typeface="Times New Roman" panose="02020603050405020304"/>
                <a:ea typeface="+mn-lt"/>
                <a:cs typeface="+mn-lt"/>
              </a:rPr>
              <a:t>Manual student record management is time-consuming</a:t>
            </a:r>
            <a:endParaRPr lang="en-US">
              <a:latin typeface="Times New Roman" panose="02020603050405020304"/>
              <a:cs typeface="Times New Roman" panose="02020603050405020304"/>
            </a:endParaRPr>
          </a:p>
          <a:p>
            <a:pPr>
              <a:buFont typeface="Arial" panose="020B0604020202020204"/>
              <a:buChar char="•"/>
            </a:pPr>
            <a:r>
              <a:rPr lang="en-IN">
                <a:latin typeface="Times New Roman" panose="02020603050405020304"/>
                <a:ea typeface="+mn-lt"/>
                <a:cs typeface="+mn-lt"/>
              </a:rPr>
              <a:t>High chances of data duplication and inconsistency</a:t>
            </a:r>
            <a:endParaRPr lang="en-IN">
              <a:latin typeface="Times New Roman" panose="02020603050405020304"/>
              <a:cs typeface="Times New Roman" panose="02020603050405020304"/>
            </a:endParaRPr>
          </a:p>
          <a:p>
            <a:pPr>
              <a:buFont typeface="Arial" panose="020B0604020202020204"/>
              <a:buChar char="•"/>
            </a:pPr>
            <a:r>
              <a:rPr lang="en-IN">
                <a:latin typeface="Times New Roman" panose="02020603050405020304"/>
                <a:ea typeface="+mn-lt"/>
                <a:cs typeface="+mn-lt"/>
              </a:rPr>
              <a:t>Difficult to update and retrieve student records</a:t>
            </a:r>
            <a:endParaRPr lang="en-IN">
              <a:latin typeface="Times New Roman" panose="02020603050405020304"/>
              <a:cs typeface="Times New Roman" panose="02020603050405020304"/>
            </a:endParaRPr>
          </a:p>
          <a:p>
            <a:pPr>
              <a:buFont typeface="Arial" panose="020B0604020202020204"/>
              <a:buChar char="•"/>
            </a:pPr>
            <a:r>
              <a:rPr lang="en-IN" dirty="0">
                <a:latin typeface="Times New Roman" panose="02020603050405020304"/>
                <a:ea typeface="+mn-lt"/>
                <a:cs typeface="+mn-lt"/>
              </a:rPr>
              <a:t>Lack of centralized and secure data storage</a:t>
            </a:r>
            <a:endParaRPr lang="en-IN" dirty="0">
              <a:latin typeface="Times New Roman" panose="02020603050405020304"/>
              <a:cs typeface="Times New Roman" panose="02020603050405020304"/>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vert="horz" lIns="91440" tIns="45720" rIns="91440" bIns="45720" rtlCol="0" anchor="t">
            <a:normAutofit fontScale="92500" lnSpcReduction="10000"/>
          </a:bodyPr>
          <a:lstStyle/>
          <a:p>
            <a:pPr>
              <a:buNone/>
            </a:pPr>
            <a:r>
              <a:rPr lang="en-IN" b="1" dirty="0">
                <a:latin typeface="Times New Roman" panose="02020603050405020304"/>
                <a:ea typeface="+mn-lt"/>
                <a:cs typeface="+mn-lt"/>
              </a:rPr>
              <a:t>Software Requirements:</a:t>
            </a:r>
            <a:endParaRPr lang="en-US" dirty="0">
              <a:latin typeface="Times New Roman" panose="02020603050405020304"/>
              <a:cs typeface="Times New Roman" panose="02020603050405020304"/>
            </a:endParaRPr>
          </a:p>
          <a:p>
            <a:pPr>
              <a:buFont typeface="Arial" panose="020B0604020202020204"/>
              <a:buChar char="•"/>
            </a:pPr>
            <a:r>
              <a:rPr lang="en-IN" dirty="0">
                <a:latin typeface="Times New Roman" panose="02020603050405020304"/>
                <a:ea typeface="+mn-lt"/>
                <a:cs typeface="+mn-lt"/>
              </a:rPr>
              <a:t>Python</a:t>
            </a:r>
            <a:endParaRPr lang="en-IN" dirty="0">
              <a:latin typeface="Times New Roman" panose="02020603050405020304"/>
              <a:cs typeface="Times New Roman" panose="02020603050405020304"/>
            </a:endParaRPr>
          </a:p>
          <a:p>
            <a:pPr>
              <a:buFont typeface="Arial" panose="020B0604020202020204"/>
              <a:buChar char="•"/>
            </a:pPr>
            <a:r>
              <a:rPr lang="en-IN" dirty="0">
                <a:latin typeface="Times New Roman" panose="02020603050405020304"/>
                <a:ea typeface="+mn-lt"/>
                <a:cs typeface="+mn-lt"/>
              </a:rPr>
              <a:t>Flask Framework</a:t>
            </a:r>
            <a:endParaRPr lang="en-IN" dirty="0">
              <a:latin typeface="Times New Roman" panose="02020603050405020304"/>
              <a:cs typeface="Times New Roman" panose="02020603050405020304"/>
            </a:endParaRPr>
          </a:p>
          <a:p>
            <a:pPr>
              <a:buFont typeface="Arial" panose="020B0604020202020204"/>
              <a:buChar char="•"/>
            </a:pPr>
            <a:r>
              <a:rPr lang="en-IN" dirty="0">
                <a:latin typeface="Times New Roman" panose="02020603050405020304"/>
                <a:ea typeface="+mn-lt"/>
                <a:cs typeface="+mn-lt"/>
              </a:rPr>
              <a:t>SQL Server</a:t>
            </a:r>
            <a:endParaRPr lang="en-IN" dirty="0">
              <a:latin typeface="Times New Roman" panose="02020603050405020304"/>
              <a:cs typeface="Times New Roman" panose="02020603050405020304"/>
            </a:endParaRPr>
          </a:p>
          <a:p>
            <a:pPr>
              <a:buFont typeface="Arial" panose="020B0604020202020204"/>
              <a:buChar char="•"/>
            </a:pPr>
            <a:r>
              <a:rPr lang="en-IN" dirty="0">
                <a:latin typeface="Times New Roman" panose="02020603050405020304"/>
                <a:ea typeface="+mn-lt"/>
                <a:cs typeface="+mn-lt"/>
              </a:rPr>
              <a:t>Visual Studio Code</a:t>
            </a:r>
            <a:endParaRPr lang="en-IN" dirty="0">
              <a:latin typeface="Times New Roman" panose="02020603050405020304"/>
              <a:cs typeface="Times New Roman" panose="02020603050405020304"/>
            </a:endParaRPr>
          </a:p>
          <a:p>
            <a:pPr>
              <a:buFont typeface="Arial" panose="020B0604020202020204"/>
              <a:buChar char="•"/>
            </a:pPr>
            <a:r>
              <a:rPr lang="en-IN" dirty="0">
                <a:latin typeface="Times New Roman" panose="02020603050405020304"/>
                <a:ea typeface="+mn-lt"/>
                <a:cs typeface="+mn-lt"/>
              </a:rPr>
              <a:t>Web Browser</a:t>
            </a:r>
            <a:endParaRPr lang="en-IN" dirty="0">
              <a:latin typeface="Times New Roman" panose="02020603050405020304"/>
              <a:cs typeface="Times New Roman" panose="02020603050405020304"/>
            </a:endParaRPr>
          </a:p>
          <a:p>
            <a:pPr indent="0">
              <a:buNone/>
            </a:pPr>
            <a:r>
              <a:rPr lang="en-IN" b="1" dirty="0">
                <a:latin typeface="Times New Roman" panose="02020603050405020304"/>
                <a:ea typeface="+mn-lt"/>
                <a:cs typeface="+mn-lt"/>
              </a:rPr>
              <a:t>Hardware Requirements:</a:t>
            </a:r>
            <a:endParaRPr lang="en-IN" dirty="0">
              <a:latin typeface="Times New Roman" panose="02020603050405020304"/>
              <a:cs typeface="Times New Roman" panose="02020603050405020304"/>
            </a:endParaRPr>
          </a:p>
          <a:p>
            <a:pPr>
              <a:buFont typeface="Arial" panose="020B0604020202020204"/>
              <a:buChar char="•"/>
            </a:pPr>
            <a:r>
              <a:rPr lang="en-IN" dirty="0">
                <a:latin typeface="Times New Roman" panose="02020603050405020304"/>
                <a:ea typeface="+mn-lt"/>
                <a:cs typeface="+mn-lt"/>
              </a:rPr>
              <a:t>Standard computer system</a:t>
            </a:r>
            <a:endParaRPr lang="en-IN" dirty="0">
              <a:latin typeface="Times New Roman" panose="02020603050405020304"/>
              <a:cs typeface="Times New Roman" panose="02020603050405020304"/>
            </a:endParaRPr>
          </a:p>
          <a:p>
            <a:pPr>
              <a:buFont typeface="Arial" panose="020B0604020202020204"/>
              <a:buChar char="•"/>
            </a:pPr>
            <a:r>
              <a:rPr lang="en-IN" dirty="0">
                <a:latin typeface="Times New Roman" panose="02020603050405020304"/>
                <a:ea typeface="+mn-lt"/>
                <a:cs typeface="+mn-lt"/>
              </a:rPr>
              <a:t>Internet connectivity</a:t>
            </a:r>
            <a:endParaRPr lang="en-IN" dirty="0">
              <a:latin typeface="Times New Roman" panose="02020603050405020304"/>
              <a:cs typeface="Times New Roman" panose="02020603050405020304"/>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vert="horz" lIns="91440" tIns="45720" rIns="91440" bIns="45720" rtlCol="0" anchor="t">
            <a:normAutofit/>
          </a:bodyPr>
          <a:lstStyle/>
          <a:p>
            <a:pPr>
              <a:buFont typeface="Arial" panose="020B0604020202020204"/>
            </a:pPr>
            <a:r>
              <a:rPr lang="en-IN">
                <a:latin typeface="Times New Roman" panose="02020603050405020304"/>
                <a:ea typeface="+mn-lt"/>
                <a:cs typeface="+mn-lt"/>
              </a:rPr>
              <a:t>Centralized and secure data management</a:t>
            </a:r>
            <a:endParaRPr lang="en-US">
              <a:latin typeface="Times New Roman" panose="02020603050405020304"/>
              <a:ea typeface="+mn-lt"/>
              <a:cs typeface="+mn-lt"/>
            </a:endParaRPr>
          </a:p>
          <a:p>
            <a:pPr>
              <a:buFont typeface="Arial" panose="020B0604020202020204"/>
            </a:pPr>
            <a:r>
              <a:rPr lang="en-IN">
                <a:latin typeface="Times New Roman" panose="02020603050405020304"/>
                <a:ea typeface="+mn-lt"/>
                <a:cs typeface="+mn-lt"/>
              </a:rPr>
              <a:t>Easy addition, modification, and deletion of records</a:t>
            </a:r>
            <a:endParaRPr lang="en-IN" dirty="0">
              <a:latin typeface="Times New Roman" panose="02020603050405020304"/>
              <a:ea typeface="+mn-lt"/>
              <a:cs typeface="+mn-lt"/>
            </a:endParaRPr>
          </a:p>
          <a:p>
            <a:pPr>
              <a:buFont typeface="Arial" panose="020B0604020202020204"/>
            </a:pPr>
            <a:r>
              <a:rPr lang="en-IN" dirty="0">
                <a:latin typeface="Times New Roman" panose="02020603050405020304"/>
                <a:ea typeface="+mn-lt"/>
                <a:cs typeface="+mn-lt"/>
              </a:rPr>
              <a:t>Faster access to student information</a:t>
            </a:r>
            <a:endParaRPr lang="en-IN" dirty="0">
              <a:latin typeface="Times New Roman" panose="02020603050405020304"/>
              <a:ea typeface="+mn-lt"/>
              <a:cs typeface="+mn-lt"/>
            </a:endParaRPr>
          </a:p>
          <a:p>
            <a:pPr>
              <a:buFont typeface="Arial" panose="020B0604020202020204"/>
            </a:pPr>
            <a:r>
              <a:rPr lang="en-IN" dirty="0">
                <a:latin typeface="Times New Roman" panose="02020603050405020304"/>
                <a:ea typeface="+mn-lt"/>
                <a:cs typeface="+mn-lt"/>
              </a:rPr>
              <a:t>Reduced human errors</a:t>
            </a:r>
            <a:endParaRPr lang="en-IN" dirty="0">
              <a:latin typeface="Times New Roman" panose="02020603050405020304"/>
              <a:ea typeface="+mn-lt"/>
              <a:cs typeface="+mn-lt"/>
            </a:endParaRPr>
          </a:p>
          <a:p>
            <a:pPr>
              <a:buFont typeface="Arial" panose="020B0604020202020204"/>
            </a:pPr>
            <a:r>
              <a:rPr lang="en-IN" dirty="0">
                <a:latin typeface="Times New Roman" panose="02020603050405020304"/>
                <a:ea typeface="+mn-lt"/>
                <a:cs typeface="+mn-lt"/>
              </a:rPr>
              <a:t>Scalable for future enhancements</a:t>
            </a:r>
            <a:endParaRPr lang="en-IN" dirty="0">
              <a:latin typeface="Times New Roman" panose="02020603050405020304"/>
              <a:ea typeface="+mn-lt"/>
              <a:cs typeface="+mn-lt"/>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graphicFrame>
        <p:nvGraphicFramePr>
          <p:cNvPr id="8" name="Content Placeholder 7"/>
          <p:cNvGraphicFramePr>
            <a:graphicFrameLocks noGrp="1"/>
          </p:cNvGraphicFramePr>
          <p:nvPr>
            <p:ph idx="1"/>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28" name="TextBox 327"/>
          <p:cNvSpPr txBox="1"/>
          <p:nvPr/>
        </p:nvSpPr>
        <p:spPr>
          <a:xfrm>
            <a:off x="2827655" y="2131695"/>
            <a:ext cx="1363345" cy="208026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pPr marL="228600" indent="-228600">
              <a:buChar char="•"/>
            </a:pPr>
            <a:r>
              <a:rPr lang="en-US" sz="1000" dirty="0">
                <a:latin typeface="Times New Roman" panose="02020603050405020304"/>
                <a:cs typeface="Times New Roman" panose="02020603050405020304"/>
              </a:rPr>
              <a:t>Understanding Full Stack concepts</a:t>
            </a:r>
            <a:endParaRPr lang="en-US" sz="1000" dirty="0">
              <a:latin typeface="Times New Roman" panose="02020603050405020304"/>
              <a:cs typeface="Times New Roman" panose="02020603050405020304"/>
            </a:endParaRPr>
          </a:p>
          <a:p>
            <a:pPr marL="228600" indent="-228600">
              <a:buChar char="•"/>
            </a:pPr>
            <a:r>
              <a:rPr lang="en-US" sz="1000" dirty="0">
                <a:latin typeface="Times New Roman" panose="02020603050405020304"/>
                <a:cs typeface="Times New Roman" panose="02020603050405020304"/>
              </a:rPr>
              <a:t>Database schema design</a:t>
            </a:r>
            <a:endParaRPr lang="en-US" sz="1000" dirty="0">
              <a:latin typeface="Times New Roman" panose="02020603050405020304"/>
              <a:cs typeface="Times New Roman" panose="02020603050405020304"/>
            </a:endParaRPr>
          </a:p>
          <a:p>
            <a:pPr marL="228600" indent="-228600">
              <a:buChar char="•"/>
            </a:pPr>
            <a:r>
              <a:rPr lang="en-US" sz="1000" dirty="0">
                <a:latin typeface="Times New Roman" panose="02020603050405020304"/>
                <a:cs typeface="Times New Roman" panose="02020603050405020304"/>
              </a:rPr>
              <a:t>Basic CRUD implementation</a:t>
            </a:r>
            <a:endParaRPr lang="en-US" sz="1000" dirty="0">
              <a:latin typeface="Times New Roman" panose="02020603050405020304"/>
              <a:cs typeface="Times New Roman" panose="02020603050405020304"/>
            </a:endParaRPr>
          </a:p>
          <a:p>
            <a:pPr algn="ctr"/>
            <a:endParaRPr lang="en-US" sz="1000" dirty="0">
              <a:latin typeface="Times New Roman" panose="02020603050405020304"/>
              <a:cs typeface="Times New Roman" panose="02020603050405020304"/>
            </a:endParaRPr>
          </a:p>
        </p:txBody>
      </p:sp>
      <p:sp>
        <p:nvSpPr>
          <p:cNvPr id="329" name="TextBox 328"/>
          <p:cNvSpPr txBox="1"/>
          <p:nvPr/>
        </p:nvSpPr>
        <p:spPr>
          <a:xfrm>
            <a:off x="4191000" y="2131541"/>
            <a:ext cx="1338648" cy="14763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buChar char="•"/>
            </a:pPr>
            <a:r>
              <a:rPr lang="en-US" sz="1000" dirty="0">
                <a:latin typeface="Times New Roman" panose="02020603050405020304" pitchFamily="18" charset="0"/>
                <a:cs typeface="Times New Roman" panose="02020603050405020304" pitchFamily="18" charset="0"/>
              </a:rPr>
              <a:t>Complete student management system</a:t>
            </a:r>
            <a:endParaRPr lang="en-US" sz="1000" dirty="0">
              <a:latin typeface="Times New Roman" panose="02020603050405020304" pitchFamily="18" charset="0"/>
              <a:ea typeface="Calibri" panose="020F0502020204030204"/>
              <a:cs typeface="Times New Roman" panose="02020603050405020304" pitchFamily="18" charset="0"/>
            </a:endParaRPr>
          </a:p>
          <a:p>
            <a:pPr marL="228600" indent="-228600">
              <a:buChar char="•"/>
            </a:pPr>
            <a:r>
              <a:rPr lang="en-US" sz="1000" dirty="0">
                <a:latin typeface="Times New Roman" panose="02020603050405020304" pitchFamily="18" charset="0"/>
                <a:cs typeface="Times New Roman" panose="02020603050405020304" pitchFamily="18" charset="0"/>
              </a:rPr>
              <a:t>Authentication system</a:t>
            </a:r>
            <a:endParaRPr lang="en-US" sz="1000" dirty="0">
              <a:latin typeface="Times New Roman" panose="02020603050405020304" pitchFamily="18" charset="0"/>
              <a:ea typeface="Calibri" panose="020F0502020204030204"/>
              <a:cs typeface="Times New Roman" panose="02020603050405020304" pitchFamily="18" charset="0"/>
            </a:endParaRPr>
          </a:p>
          <a:p>
            <a:pPr marL="228600" indent="-228600">
              <a:buChar char="•"/>
            </a:pPr>
            <a:r>
              <a:rPr lang="en-US" sz="1000" dirty="0">
                <a:latin typeface="Times New Roman" panose="02020603050405020304" pitchFamily="18" charset="0"/>
                <a:cs typeface="Times New Roman" panose="02020603050405020304" pitchFamily="18" charset="0"/>
              </a:rPr>
              <a:t>Full frontend-backend integration</a:t>
            </a:r>
            <a:endParaRPr lang="en-US" sz="1000" dirty="0">
              <a:latin typeface="Times New Roman" panose="02020603050405020304" pitchFamily="18" charset="0"/>
              <a:ea typeface="Calibri" panose="020F0502020204030204"/>
              <a:cs typeface="Times New Roman" panose="02020603050405020304" pitchFamily="18" charset="0"/>
            </a:endParaRPr>
          </a:p>
          <a:p>
            <a:pPr algn="ctr"/>
            <a:endParaRPr lang="en-US" sz="1000" dirty="0">
              <a:latin typeface="Times New Roman" panose="02020603050405020304" pitchFamily="18" charset="0"/>
              <a:ea typeface="Calibri" panose="020F0502020204030204"/>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3" name="Content Placeholder 2"/>
          <p:cNvSpPr>
            <a:spLocks noGrp="1"/>
          </p:cNvSpPr>
          <p:nvPr>
            <p:ph idx="1"/>
          </p:nvPr>
        </p:nvSpPr>
        <p:spPr>
          <a:xfrm>
            <a:off x="446308" y="1061297"/>
            <a:ext cx="10515600" cy="4351338"/>
          </a:xfrm>
        </p:spPr>
        <p:txBody>
          <a:bodyPr vert="horz" lIns="91440" tIns="45720" rIns="91440" bIns="45720" rtlCol="0" anchor="t">
            <a:normAutofit/>
          </a:bodyPr>
          <a:lstStyle/>
          <a:p>
            <a:pPr marL="0" indent="0">
              <a:buNone/>
            </a:pPr>
            <a:r>
              <a:rPr lang="en-US" dirty="0">
                <a:solidFill>
                  <a:schemeClr val="tx1"/>
                </a:solidFill>
                <a:ea typeface="Calibri" panose="020F0502020204030204"/>
                <a:cs typeface="Calibri" panose="020F0502020204030204"/>
              </a:rPr>
              <a:t>URL:</a:t>
            </a:r>
            <a:r>
              <a:rPr lang="en-US" dirty="0">
                <a:solidFill>
                  <a:schemeClr val="tx1"/>
                </a:solidFill>
                <a:ea typeface="Calibri" panose="020F0502020204030204"/>
                <a:cs typeface="Calibri" panose="020F0502020204030204"/>
                <a:hlinkClick r:id="rId1" action="ppaction://hlinkfile"/>
              </a:rPr>
              <a:t> https://github.com/campuscore-erp/CampusCore</a:t>
            </a:r>
            <a:endParaRPr lang="en-US" dirty="0">
              <a:solidFill>
                <a:schemeClr val="tx1"/>
              </a:solidFill>
              <a:ea typeface="Calibri" panose="020F0502020204030204"/>
              <a:cs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endParaRPr lang="en-US" sz="6600" dirty="0">
              <a:solidFill>
                <a:schemeClr val="accent2">
                  <a:lumMod val="40000"/>
                  <a:lumOff val="60000"/>
                </a:schemeClr>
              </a:solidFill>
              <a:latin typeface="Times New Roman" panose="02020603050405020304" pitchFamily="18" charset="0"/>
              <a:cs typeface="Times New Roman" panose="02020603050405020304" pitchFamily="18" charset="0"/>
            </a:endParaRP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4271</Words>
  <Application>WPS Presentation</Application>
  <PresentationFormat>Widescreen</PresentationFormat>
  <Paragraphs>194</Paragraphs>
  <Slides>16</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16</vt:i4>
      </vt:variant>
    </vt:vector>
  </HeadingPairs>
  <TitlesOfParts>
    <vt:vector size="32" baseType="lpstr">
      <vt:lpstr>Arial</vt:lpstr>
      <vt:lpstr>SimSun</vt:lpstr>
      <vt:lpstr>Wingdings</vt:lpstr>
      <vt:lpstr>Arial</vt:lpstr>
      <vt:lpstr>Cambria</vt:lpstr>
      <vt:lpstr>Verdana</vt:lpstr>
      <vt:lpstr>Cambria</vt:lpstr>
      <vt:lpstr>Calibri</vt:lpstr>
      <vt:lpstr>Times New Roman</vt:lpstr>
      <vt:lpstr>Times New Roman</vt:lpstr>
      <vt:lpstr>Tahoma</vt:lpstr>
      <vt:lpstr>Tahoma</vt:lpstr>
      <vt:lpstr>Calibri Light</vt:lpstr>
      <vt:lpstr>Microsoft YaHei</vt:lpstr>
      <vt:lpstr>Arial Unicode MS</vt:lpstr>
      <vt:lpstr>Office Theme</vt:lpstr>
      <vt:lpstr>PowerPoint 演示文稿</vt:lpstr>
      <vt:lpstr>Content</vt:lpstr>
      <vt:lpstr>About Company or Organization</vt:lpstr>
      <vt:lpstr>Working domain or the technology</vt:lpstr>
      <vt:lpstr>About your team and reporting Manager</vt:lpstr>
      <vt:lpstr>PROJECT TITLE &amp; DESCRIPTION</vt:lpstr>
      <vt:lpstr>Objectives of the work</vt:lpstr>
      <vt:lpstr>Literature Review</vt:lpstr>
      <vt:lpstr>Proposed System / Work</vt:lpstr>
      <vt:lpstr>Problem Statement</vt:lpstr>
      <vt:lpstr>System Requirements</vt:lpstr>
      <vt:lpstr>Advantages of Proposed System/Work</vt:lpstr>
      <vt:lpstr>Internship Road Map</vt:lpstr>
      <vt:lpstr>Github Link</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Appu</cp:lastModifiedBy>
  <cp:revision>861</cp:revision>
  <dcterms:created xsi:type="dcterms:W3CDTF">2022-10-14T07:18:00Z</dcterms:created>
  <dcterms:modified xsi:type="dcterms:W3CDTF">2026-04-23T10:06:15Z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E6E58E17A91D4107BDFC210F4F9D5675_12</vt:lpwstr>
  </property>
  <property fmtid="{D5CDD505-2E9C-101B-9397-08002B2CF9AE}" pid="3" name="KSOProductBuildVer">
    <vt:lpwstr>2057-12.2.0.23202</vt:lpwstr>
  </property>
</Properties>
</file>