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9" r:id="rId3"/>
    <p:sldId id="270" r:id="rId5"/>
    <p:sldId id="261" r:id="rId6"/>
    <p:sldId id="262" r:id="rId7"/>
    <p:sldId id="263" r:id="rId8"/>
    <p:sldId id="264" r:id="rId9"/>
    <p:sldId id="265" r:id="rId10"/>
    <p:sldId id="271" r:id="rId11"/>
    <p:sldId id="272" r:id="rId12"/>
    <p:sldId id="273" r:id="rId13"/>
    <p:sldId id="274" r:id="rId14"/>
    <p:sldId id="276" r:id="rId15"/>
    <p:sldId id="278" r:id="rId16"/>
    <p:sldId id="277" r:id="rId17"/>
    <p:sldId id="266" r:id="rId18"/>
    <p:sldId id="267" r:id="rId19"/>
    <p:sldId id="268" r:id="rId20"/>
    <p:sldId id="269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73" autoAdjust="0"/>
    <p:restoredTop sz="94660"/>
  </p:normalViewPr>
  <p:slideViewPr>
    <p:cSldViewPr snapToGrid="0">
      <p:cViewPr varScale="1">
        <p:scale>
          <a:sx n="74" d="100"/>
          <a:sy n="74" d="100"/>
        </p:scale>
        <p:origin x="6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8B91F7-0A31-4809-8E31-54F32ACD1E72}" type="datetimeFigureOut">
              <a:rPr lang="en-GB" smtClean="0"/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5A70FC-228F-4487-8E14-68CAD584041B}" type="slidenum">
              <a:rPr lang="en-GB" smtClean="0"/>
            </a:fld>
            <a:endParaRPr lang="en-GB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6083A-C1B7-4B46-82C5-289BB6E6D5A4}" type="datetime1">
              <a:rPr lang="en-IN" smtClean="0"/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009650" cy="365125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4BFFB7-4443-4602-A990-B076C1CFE86C}" type="datetime1">
              <a:rPr lang="en-IN" smtClean="0"/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E8F52-857A-4C89-954C-57943DB51290}" type="datetime1">
              <a:rPr lang="en-IN" smtClean="0"/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D7B4D-DDD6-4CA2-87A0-9BDD5E5268EC}" type="datetime1">
              <a:rPr lang="en-IN" smtClean="0"/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0D9E5-0635-43A8-8973-488E7408FAF7}" type="datetime1">
              <a:rPr lang="en-IN" smtClean="0"/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0CEA8-D591-4CC9-939A-A3BE6FD93E89}" type="datetime1">
              <a:rPr lang="en-IN" smtClean="0"/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2A547-6E4B-4188-9BD5-035CB9C4BCC5}" type="datetime1">
              <a:rPr lang="en-IN" smtClean="0"/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06E29-16A1-4AAE-B55B-4E3DB7265605}" type="datetime1">
              <a:rPr lang="en-IN" smtClean="0"/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26915-BE00-456E-A9CA-DB9FE1FD674A}" type="datetime1">
              <a:rPr lang="en-IN" smtClean="0"/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D233-408A-4415-B919-B7ECAA5043E2}" type="datetime1">
              <a:rPr lang="en-IN" smtClean="0"/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C608B-7A9F-4336-97A2-89908E443DAD}" type="datetime1">
              <a:rPr lang="en-IN" smtClean="0"/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%20https://github.com/campuscore-erp/CampusCore&#13;" TargetMode="Externa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wmf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/>
        </p:nvSpPr>
        <p:spPr>
          <a:xfrm>
            <a:off x="6525369" y="2109718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 lnSpcReduction="20000"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r>
              <a:rPr lang="en-GB" sz="20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Under the Supervision of,</a:t>
            </a:r>
            <a:endParaRPr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20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M</a:t>
            </a:r>
            <a:r>
              <a:rPr lang="en-IN" altLang="en-GB" sz="20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r. H Senthil Kumar</a:t>
            </a:r>
            <a:endParaRPr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20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As</a:t>
            </a:r>
            <a:r>
              <a:rPr lang="en-IN" altLang="en-GB" sz="20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sistant</a:t>
            </a:r>
            <a:r>
              <a:rPr lang="en-GB" sz="20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Professor</a:t>
            </a:r>
            <a:r>
              <a:rPr lang="en-GB" sz="20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</a:t>
            </a:r>
            <a:endParaRPr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20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Presidency School of CSE</a:t>
            </a:r>
            <a:endParaRPr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20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Presidency University</a:t>
            </a:r>
            <a:endParaRPr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156411" y="4130278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/>
                <a:ea typeface="+mn-lt"/>
                <a:cs typeface="+mn-lt"/>
                <a:sym typeface="Verdana" panose="020B0604030504040204"/>
              </a:rPr>
              <a:t>Name of the Program: 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/>
                <a:ea typeface="+mn-lt"/>
                <a:cs typeface="+mn-lt"/>
                <a:sym typeface="Verdana" panose="020B0604030504040204"/>
              </a:rPr>
              <a:t>B-Tech CSE</a:t>
            </a:r>
            <a:endParaRPr lang="en-US" sz="2000" b="1" dirty="0">
              <a:solidFill>
                <a:schemeClr val="tx1">
                  <a:lumMod val="95000"/>
                  <a:lumOff val="5000"/>
                </a:schemeClr>
              </a:solidFill>
              <a:latin typeface="Cambria" panose="02040503050406030204"/>
              <a:ea typeface="Cambria" panose="02040503050406030204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/>
                <a:ea typeface="+mn-lt"/>
                <a:cs typeface="+mn-lt"/>
                <a:sym typeface="Verdana" panose="020B0604030504040204"/>
              </a:rPr>
              <a:t>Name of the HOD: 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/>
                <a:ea typeface="+mn-lt"/>
                <a:cs typeface="+mn-lt"/>
                <a:sym typeface="Verdana" panose="020B0604030504040204"/>
              </a:rPr>
              <a:t>Dr. Asif Mohammed</a:t>
            </a:r>
            <a:endParaRPr lang="en-US" sz="2000" b="1" dirty="0">
              <a:solidFill>
                <a:schemeClr val="tx1">
                  <a:lumMod val="95000"/>
                  <a:lumOff val="5000"/>
                </a:schemeClr>
              </a:solidFill>
              <a:latin typeface="Cambria" panose="02040503050406030204"/>
              <a:ea typeface="Cambria" panose="02040503050406030204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/>
                <a:ea typeface="+mn-lt"/>
                <a:cs typeface="+mn-lt"/>
                <a:sym typeface="Verdana" panose="020B0604030504040204"/>
              </a:rPr>
              <a:t>Name of the Program Internship Coordinator: 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/>
                <a:ea typeface="+mn-lt"/>
                <a:cs typeface="+mn-lt"/>
                <a:sym typeface="Verdana" panose="020B0604030504040204"/>
              </a:rPr>
              <a:t>Mr. Sakthi S</a:t>
            </a:r>
            <a:endParaRPr lang="en-US" sz="2000" b="1">
              <a:solidFill>
                <a:schemeClr val="tx1">
                  <a:lumMod val="95000"/>
                  <a:lumOff val="5000"/>
                </a:schemeClr>
              </a:solidFill>
              <a:latin typeface="Cambria" panose="02040503050406030204"/>
              <a:ea typeface="Cambria" panose="02040503050406030204"/>
            </a:endParaRPr>
          </a:p>
          <a:p>
            <a:pPr lvl="0"/>
            <a:r>
              <a:rPr lang="en-US" sz="2000" b="1" dirty="0">
                <a:solidFill>
                  <a:schemeClr val="accent1"/>
                </a:solidFill>
                <a:latin typeface="Cambria" panose="02040503050406030204"/>
                <a:ea typeface="+mn-lt"/>
                <a:cs typeface="+mn-lt"/>
                <a:sym typeface="Verdana" panose="020B0604030504040204"/>
              </a:rPr>
              <a:t>Name of the School Internship Coordinator: 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/>
                <a:ea typeface="+mn-lt"/>
                <a:cs typeface="+mn-lt"/>
                <a:sym typeface="Verdana" panose="020B0604030504040204"/>
              </a:rPr>
              <a:t>Dr. Md Ziaur Rahman</a:t>
            </a:r>
            <a:endParaRPr lang="en-US" sz="2000" b="1">
              <a:solidFill>
                <a:schemeClr val="tx1">
                  <a:lumMod val="95000"/>
                  <a:lumOff val="5000"/>
                </a:schemeClr>
              </a:solidFill>
              <a:latin typeface="Cambria" panose="02040503050406030204"/>
              <a:ea typeface="+mn-lt"/>
              <a:cs typeface="+mn-lt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/>
                <a:ea typeface="+mn-lt"/>
                <a:cs typeface="+mn-lt"/>
                <a:sym typeface="Verdana" panose="020B0604030504040204"/>
              </a:rPr>
              <a:t>                                                     </a:t>
            </a:r>
            <a:endParaRPr lang="en-US" sz="2000" b="1">
              <a:solidFill>
                <a:schemeClr val="accent1"/>
              </a:solidFill>
              <a:latin typeface="Cambria" panose="02040503050406030204"/>
              <a:ea typeface="Cambria" panose="02040503050406030204"/>
            </a:endParaRPr>
          </a:p>
          <a:p>
            <a:pPr>
              <a:buFont typeface="Arial" panose="020B0604020202020204"/>
            </a:pPr>
            <a:endParaRPr sz="20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</p:txBody>
      </p:sp>
      <p:sp>
        <p:nvSpPr>
          <p:cNvPr id="9" name="Title 1"/>
          <p:cNvSpPr txBox="1"/>
          <p:nvPr/>
        </p:nvSpPr>
        <p:spPr>
          <a:xfrm>
            <a:off x="1098550" y="340995"/>
            <a:ext cx="9995535" cy="13595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  <a:defRPr sz="2800" b="1" i="0" u="none" strike="noStrike" cap="none">
                <a:solidFill>
                  <a:srgbClr val="17365D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ctr"/>
            <a:r>
              <a:rPr lang="en-US" alt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CSE7302 - INTERNSHIP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r>
              <a:rPr lang="en-US" dirty="0">
                <a:solidFill>
                  <a:srgbClr val="0070C0"/>
                </a:solidFill>
                <a:latin typeface="Times New Roman" panose="02020603050405020304"/>
                <a:ea typeface="Tahoma" panose="020B0604030504040204"/>
                <a:cs typeface="Times New Roman" panose="02020603050405020304"/>
                <a:sym typeface="+mn-ea"/>
              </a:rPr>
              <a:t>Review-</a:t>
            </a:r>
            <a:r>
              <a:rPr lang="en-IN" altLang="en-US" dirty="0">
                <a:solidFill>
                  <a:srgbClr val="0070C0"/>
                </a:solidFill>
                <a:latin typeface="Times New Roman" panose="02020603050405020304"/>
                <a:ea typeface="Tahoma" panose="020B0604030504040204"/>
                <a:cs typeface="Times New Roman" panose="02020603050405020304"/>
                <a:sym typeface="+mn-ea"/>
              </a:rPr>
              <a:t>3</a:t>
            </a:r>
            <a:r>
              <a:rPr lang="en-US" dirty="0">
                <a:solidFill>
                  <a:srgbClr val="0070C0"/>
                </a:solidFill>
                <a:latin typeface="Times New Roman" panose="02020603050405020304"/>
                <a:ea typeface="Tahoma" panose="020B0604030504040204"/>
                <a:cs typeface="Times New Roman" panose="02020603050405020304"/>
                <a:sym typeface="+mn-ea"/>
              </a:rPr>
              <a:t> Presentation </a:t>
            </a:r>
            <a:br>
              <a:rPr lang="en-US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+mn-ea"/>
              </a:rPr>
            </a:br>
            <a:r>
              <a:rPr lang="en-US" dirty="0">
                <a:latin typeface="Cambria" panose="02040503050406030204"/>
                <a:cs typeface="Times New Roman" panose="02020603050405020304"/>
                <a:sym typeface="+mn-ea"/>
              </a:rPr>
              <a:t>Project Title:</a:t>
            </a:r>
            <a:r>
              <a:rPr lang="en-US" b="0" dirty="0">
                <a:latin typeface="Cambria" panose="02040503050406030204"/>
                <a:cs typeface="Times New Roman" panose="02020603050405020304"/>
                <a:sym typeface="+mn-ea"/>
              </a:rPr>
              <a:t> </a:t>
            </a:r>
            <a:r>
              <a:rPr lang="en-IN" altLang="en-US" b="0" dirty="0">
                <a:latin typeface="Cambria" panose="02040503050406030204"/>
                <a:cs typeface="Times New Roman" panose="02020603050405020304"/>
                <a:sym typeface="+mn-ea"/>
              </a:rPr>
              <a:t>CampusCore - University ERP System</a:t>
            </a:r>
            <a:br>
              <a:rPr lang="en-US" b="0" dirty="0">
                <a:latin typeface="Cambria" panose="02040503050406030204"/>
                <a:cs typeface="Times New Roman" panose="02020603050405020304" pitchFamily="18" charset="0"/>
                <a:sym typeface="+mn-ea"/>
              </a:rPr>
            </a:br>
            <a:r>
              <a:rPr lang="en-US" b="0" dirty="0">
                <a:latin typeface="Cambria" panose="02040503050406030204"/>
                <a:cs typeface="Times New Roman" panose="02020603050405020304"/>
                <a:sym typeface="+mn-ea"/>
              </a:rPr>
              <a:t> </a:t>
            </a:r>
            <a:r>
              <a:rPr lang="en-US" dirty="0">
                <a:latin typeface="Cambria" panose="02040503050406030204"/>
                <a:cs typeface="Times New Roman" panose="02020603050405020304"/>
                <a:sym typeface="+mn-ea"/>
              </a:rPr>
              <a:t>Domain:</a:t>
            </a:r>
            <a:r>
              <a:rPr lang="en-US" b="0" dirty="0">
                <a:latin typeface="Cambria" panose="02040503050406030204"/>
                <a:cs typeface="Times New Roman" panose="02020603050405020304"/>
                <a:sym typeface="+mn-ea"/>
              </a:rPr>
              <a:t> Full Stack Web Development</a:t>
            </a:r>
            <a:br>
              <a:rPr lang="en-US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+mn-ea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01909" y="1911875"/>
          <a:ext cx="5321552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70"/>
                <a:gridCol w="3950282"/>
              </a:tblGrid>
              <a:tr h="362263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Student Details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cPr/>
                </a:tc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 smtClean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Name</a:t>
                      </a:r>
                      <a:endParaRPr lang="en-US" b="1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alt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Jayanth D R</a:t>
                      </a:r>
                      <a:endParaRPr lang="en-IN" alt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 smtClean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Roll No</a:t>
                      </a:r>
                      <a:endParaRPr lang="en-US" b="1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alt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20221CSE0636</a:t>
                      </a:r>
                      <a:endParaRPr lang="en-IN" alt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 smtClean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Section</a:t>
                      </a:r>
                      <a:endParaRPr lang="en-US" b="1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alt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8CSE12</a:t>
                      </a:r>
                      <a:endParaRPr lang="en-IN" alt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</a:pPr>
            <a:r>
              <a:rPr lang="en-GB" dirty="0" smtClean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704516" y="902370"/>
            <a:ext cx="10668000" cy="4377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</a:t>
            </a:r>
            <a:r>
              <a:rPr lang="en-US" sz="2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Organization</a:t>
            </a:r>
            <a:endParaRPr lang="en-US" sz="2000" b="1" dirty="0" smtClean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  <a:endParaRPr lang="en-US" sz="20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  <a:endParaRPr lang="en-US" sz="20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  <a:endParaRPr lang="en-US" sz="20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</a:t>
            </a:r>
            <a:r>
              <a:rPr lang="en-IN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</a:t>
            </a:r>
            <a:endParaRPr lang="en-IN" sz="2000" b="1" dirty="0" smtClean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lang="en-IN" sz="2000" b="1" dirty="0" smtClean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2000" b="1" dirty="0" smtClean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2000" b="1" dirty="0" smtClean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  <a:endParaRPr lang="en-IN" sz="20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</a:t>
            </a:r>
            <a:r>
              <a:rPr lang="en-IN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System/Work</a:t>
            </a:r>
            <a:endParaRPr lang="en-IN" sz="2000" b="1" dirty="0" smtClean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  <a:endParaRPr lang="en-IN" sz="2000" b="1" dirty="0" smtClean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</a:t>
            </a:r>
            <a:endParaRPr lang="en-IN" sz="2000" b="1" dirty="0" smtClean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Roadmap</a:t>
            </a:r>
            <a:endParaRPr lang="en-IN" sz="2000" b="1" dirty="0" smtClean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  <a:endParaRPr lang="en-US" sz="20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/>
          <a:lstStyle/>
          <a:p>
            <a:r>
              <a:rPr lang="en-US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  <a:endParaRPr lang="en-US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45031"/>
            <a:ext cx="10515600" cy="4193176"/>
          </a:xfrm>
        </p:spPr>
        <p:txBody>
          <a:bodyPr/>
          <a:lstStyle/>
          <a:p>
            <a:r>
              <a:rPr lang="en-US" b="1" dirty="0">
                <a:latin typeface="Times New Roman" panose="02020603050405020304"/>
                <a:ea typeface="+mn-lt"/>
                <a:cs typeface="+mn-lt"/>
                <a:sym typeface="+mn-ea"/>
              </a:rPr>
              <a:t>Company / Organization Name:</a:t>
            </a:r>
            <a:r>
              <a:rPr lang="en-US" dirty="0">
                <a:latin typeface="Times New Roman" panose="02020603050405020304"/>
                <a:ea typeface="+mn-lt"/>
                <a:cs typeface="+mn-lt"/>
                <a:sym typeface="+mn-ea"/>
              </a:rPr>
              <a:t> Rail Wheel Factory (RWF)</a:t>
            </a:r>
            <a:endParaRPr lang="en-US">
              <a:latin typeface="Times New Roman" panose="02020603050405020304"/>
              <a:ea typeface="Cambria" panose="02040503050406030204"/>
              <a:cs typeface="Times New Roman" panose="02020603050405020304"/>
            </a:endParaRPr>
          </a:p>
          <a:p>
            <a:r>
              <a:rPr lang="en-US" b="1" dirty="0">
                <a:latin typeface="Times New Roman" panose="02020603050405020304"/>
                <a:ea typeface="+mn-lt"/>
                <a:cs typeface="+mn-lt"/>
                <a:sym typeface="+mn-ea"/>
              </a:rPr>
              <a:t>Organization Type:</a:t>
            </a:r>
            <a:r>
              <a:rPr lang="en-US" dirty="0">
                <a:latin typeface="Times New Roman" panose="02020603050405020304"/>
                <a:ea typeface="+mn-lt"/>
                <a:cs typeface="+mn-lt"/>
                <a:sym typeface="+mn-ea"/>
              </a:rPr>
              <a:t> Government of India Enterprise(Under Ministry of Railways)</a:t>
            </a:r>
            <a:endParaRPr lang="en-US">
              <a:latin typeface="Times New Roman" panose="02020603050405020304"/>
              <a:ea typeface="Cambria" panose="02040503050406030204"/>
              <a:cs typeface="Times New Roman" panose="02020603050405020304"/>
            </a:endParaRPr>
          </a:p>
          <a:p>
            <a:r>
              <a:rPr lang="en-US" b="1" dirty="0">
                <a:latin typeface="Times New Roman" panose="02020603050405020304"/>
                <a:ea typeface="+mn-lt"/>
                <a:cs typeface="+mn-lt"/>
                <a:sym typeface="+mn-ea"/>
              </a:rPr>
              <a:t>Location:</a:t>
            </a:r>
            <a:r>
              <a:rPr lang="en-US" dirty="0">
                <a:latin typeface="Times New Roman" panose="02020603050405020304"/>
                <a:ea typeface="+mn-lt"/>
                <a:cs typeface="+mn-lt"/>
                <a:sym typeface="+mn-ea"/>
              </a:rPr>
              <a:t> Yelahanka, Bengaluru, Karnataka</a:t>
            </a:r>
            <a:endParaRPr lang="en-US">
              <a:latin typeface="Times New Roman" panose="02020603050405020304"/>
              <a:ea typeface="Cambria" panose="02040503050406030204"/>
              <a:cs typeface="Times New Roman" panose="02020603050405020304"/>
            </a:endParaRPr>
          </a:p>
          <a:p>
            <a:r>
              <a:rPr lang="en-US" b="1" dirty="0">
                <a:latin typeface="Times New Roman" panose="02020603050405020304"/>
                <a:ea typeface="+mn-lt"/>
                <a:cs typeface="+mn-lt"/>
                <a:sym typeface="+mn-ea"/>
              </a:rPr>
              <a:t>Overview:</a:t>
            </a:r>
            <a:r>
              <a:rPr lang="en-US" dirty="0">
                <a:latin typeface="Times New Roman" panose="02020603050405020304"/>
                <a:ea typeface="+mn-lt"/>
                <a:cs typeface="+mn-lt"/>
                <a:sym typeface="+mn-ea"/>
              </a:rPr>
              <a:t> Rail Wheel Factory (RWF) is a premier manufacturing unit of Indian Railways, established to manufacture cast steel wheels and axles used in railway rolling stock across India.</a:t>
            </a:r>
            <a:endParaRPr lang="en-US" dirty="0">
              <a:latin typeface="Times New Roman" panose="02020603050405020304"/>
              <a:ea typeface="+mn-lt"/>
              <a:cs typeface="+mn-lt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0050" y="974725"/>
            <a:ext cx="10424795" cy="329247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Internship Domain: Full Stack Web Development</a:t>
            </a:r>
            <a:endParaRPr lang="en-US" alt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Used:</a:t>
            </a:r>
            <a:endParaRPr lang="en-US" alt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  <a:r>
              <a:rPr lang="en-I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  <a:r>
              <a:rPr lang="en-I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CSS</a:t>
            </a:r>
            <a:r>
              <a:rPr lang="en-I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JavaScript</a:t>
            </a:r>
            <a:endParaRPr lang="en-US" alt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  <a:r>
              <a:rPr lang="en-I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en-I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Flask (REST API Architecture)</a:t>
            </a:r>
            <a:endParaRPr lang="en-US" alt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  <a:r>
              <a:rPr lang="en-I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Microsoft SQL Server</a:t>
            </a:r>
            <a:endParaRPr lang="en-US" alt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</a:t>
            </a:r>
            <a:r>
              <a:rPr lang="en-US" alt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 Code</a:t>
            </a:r>
            <a:r>
              <a:rPr lang="en-I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Postman</a:t>
            </a:r>
            <a:r>
              <a:rPr lang="en-I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endParaRPr lang="en-US" alt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follows a Three-Tier Architecture (Frontend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alt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Backend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alt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Database).</a:t>
            </a:r>
            <a:endParaRPr lang="en-US" alt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275"/>
            <a:ext cx="10925175" cy="4632325"/>
          </a:xfrm>
        </p:spPr>
        <p:txBody>
          <a:bodyPr>
            <a:normAutofit fontScale="80000"/>
          </a:bodyPr>
          <a:lstStyle/>
          <a:p>
            <a:pPr marL="0" indent="0">
              <a:buNone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Internship carried out under organizational supervision</a:t>
            </a:r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Regular progress reviews</a:t>
            </a:r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Independent project-based development</a:t>
            </a:r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 Responsibilities:</a:t>
            </a:r>
            <a:endParaRPr lang="en-US" altLang="en-GB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Database schema design</a:t>
            </a:r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Writing SQL queries</a:t>
            </a:r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Developing Flask APIs</a:t>
            </a:r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Frontend integration</a:t>
            </a:r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Authentication system implementation</a:t>
            </a:r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Debugging and testing</a:t>
            </a:r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275"/>
            <a:ext cx="10798810" cy="4660265"/>
          </a:xfrm>
        </p:spPr>
        <p:txBody>
          <a:bodyPr>
            <a:normAutofit fontScale="80000"/>
          </a:bodyPr>
          <a:lstStyle/>
          <a:p>
            <a:pPr marL="0" indent="0">
              <a:buNone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Designing normalized relational database</a:t>
            </a:r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Creating proper primary and foreign key relationships</a:t>
            </a:r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Handling SQL join operations</a:t>
            </a:r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Debugging Flask–SQL Server connection errors</a:t>
            </a:r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Managing session-based authentication</a:t>
            </a:r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Fixing frontend-backend API integration issues</a:t>
            </a:r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Outcome:</a:t>
            </a:r>
            <a:endParaRPr lang="en-US" altLang="en-GB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Improved problem-solving skills</a:t>
            </a:r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Strong understanding of REST API architecture</a:t>
            </a:r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Better debugging and system design knowledge</a:t>
            </a:r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pPr marL="0" indent="0">
              <a:buNone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Develop centralized University ERP system</a:t>
            </a:r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Manage student and teacher data efficiently</a:t>
            </a:r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Implement secure admin authentication</a:t>
            </a:r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Perform CRUD operations</a:t>
            </a:r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Track attendance records</a:t>
            </a:r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Manage student fee details</a:t>
            </a:r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Reduce manual paperwork and human errors</a:t>
            </a:r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275"/>
            <a:ext cx="10944225" cy="4843145"/>
          </a:xfrm>
        </p:spPr>
        <p:txBody>
          <a:bodyPr>
            <a:normAutofit fontScale="80000"/>
          </a:bodyPr>
          <a:lstStyle/>
          <a:p>
            <a:pPr marL="0" indent="0">
              <a:buNone/>
            </a:pPr>
            <a:r>
              <a:rPr lang="en-US" alt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student management systems are:</a:t>
            </a:r>
            <a:endParaRPr lang="en-US" altLang="en-GB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Manual or semi-automated</a:t>
            </a:r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Prone to data duplication</a:t>
            </a:r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Difficult to maintain</a:t>
            </a:r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Not centrally accessible</a:t>
            </a:r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shows:</a:t>
            </a:r>
            <a:endParaRPr lang="en-US" altLang="en-GB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Centralized database systems improve integrity</a:t>
            </a:r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REST APIs improve system communication</a:t>
            </a:r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Flask framework supports lightweight scalable backend</a:t>
            </a:r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SQL-based systems ensure structured data storage</a:t>
            </a:r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Hence, a full-stack ERP solution was proposed.</a:t>
            </a:r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/ Work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 fontScale="90000" lnSpcReduction="10000"/>
          </a:bodyPr>
          <a:lstStyle/>
          <a:p>
            <a:pPr marL="0" indent="0">
              <a:buNone/>
            </a:pPr>
            <a:r>
              <a:rPr lang="en-US" alt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CampusCore – University ERP System includes:</a:t>
            </a:r>
            <a:endParaRPr lang="en-US" altLang="en-GB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Admin Authentication Module</a:t>
            </a:r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Student Management Module</a:t>
            </a:r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Teacher Management Module</a:t>
            </a:r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Attendance Management System</a:t>
            </a:r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Fee Management Module</a:t>
            </a:r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Dashboard for data overview</a:t>
            </a:r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provides secure login and role-based data handling.</a:t>
            </a:r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275"/>
            <a:ext cx="10908030" cy="4841875"/>
          </a:xfrm>
        </p:spPr>
        <p:txBody>
          <a:bodyPr>
            <a:normAutofit fontScale="80000"/>
          </a:bodyPr>
          <a:lstStyle/>
          <a:p>
            <a:pPr marL="0" indent="0">
              <a:buNone/>
            </a:pPr>
            <a:r>
              <a:rPr lang="en-US" alt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record management leads to:</a:t>
            </a:r>
            <a:endParaRPr lang="en-US" altLang="en-GB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Data redundancy</a:t>
            </a:r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Inconsistency</a:t>
            </a:r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Time-consuming updates</a:t>
            </a:r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Lack of centralized control</a:t>
            </a:r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Security risks</a:t>
            </a:r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for:</a:t>
            </a:r>
            <a:endParaRPr lang="en-US" altLang="en-GB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Secure</a:t>
            </a:r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Centralized</a:t>
            </a:r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Scalable</a:t>
            </a:r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Web-based ERP solution</a:t>
            </a:r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275"/>
            <a:ext cx="10916285" cy="4805680"/>
          </a:xfrm>
        </p:spPr>
        <p:txBody>
          <a:bodyPr/>
          <a:lstStyle/>
          <a:p>
            <a:pPr marL="0" indent="0">
              <a:buNone/>
            </a:pPr>
            <a:r>
              <a:rPr lang="en-US" alt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Requirements:</a:t>
            </a:r>
            <a:endParaRPr lang="en-US" altLang="en-GB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Python 3.x</a:t>
            </a:r>
            <a:endParaRPr lang="en-US" alt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Flask Framework</a:t>
            </a:r>
            <a:endParaRPr lang="en-US" alt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Microsoft SQL Server</a:t>
            </a:r>
            <a:endParaRPr lang="en-US" alt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HTML/CSS/JavaScript</a:t>
            </a:r>
            <a:endParaRPr lang="en-US" alt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VS Code</a:t>
            </a:r>
            <a:endParaRPr lang="en-US" alt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Requirements:</a:t>
            </a:r>
            <a:endParaRPr lang="en-US" altLang="en-GB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Standard Computer System</a:t>
            </a:r>
            <a:endParaRPr lang="en-US" alt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Internet Connectivity</a:t>
            </a:r>
            <a:endParaRPr lang="en-US" alt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 fontScale="80000"/>
          </a:bodyPr>
          <a:lstStyle/>
          <a:p>
            <a:pPr marL="0" indent="0">
              <a:buNone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Architecture:</a:t>
            </a:r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follows a Three-Tier Architecture:</a:t>
            </a:r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AutoNum type="arabicPeriod"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Layer</a:t>
            </a:r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457200">
              <a:buNone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Frontend (HTML, CSS, JavaScript)</a:t>
            </a:r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  </a:t>
            </a: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Layer</a:t>
            </a:r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457200">
              <a:buNone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Flask REST APIs</a:t>
            </a:r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457200">
              <a:buNone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Business logic handling</a:t>
            </a:r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  </a:t>
            </a: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Layer</a:t>
            </a:r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457200">
              <a:buNone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Microsoft SQL Server Database</a:t>
            </a:r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434320" cy="624205"/>
          </a:xfrm>
        </p:spPr>
        <p:txBody>
          <a:bodyPr/>
          <a:p>
            <a:r>
              <a:rPr lang="en-IN" sz="32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System Design</a:t>
            </a:r>
            <a:endParaRPr lang="en-GB" altLang="en-US" sz="32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6920" y="989330"/>
            <a:ext cx="10743565" cy="5081270"/>
          </a:xfrm>
        </p:spPr>
        <p:txBody>
          <a:bodyPr>
            <a:normAutofit fontScale="70000"/>
          </a:bodyPr>
          <a:p>
            <a:pPr marL="0" indent="0">
              <a:buNone/>
            </a:pPr>
            <a:r>
              <a:rPr lang="en-US" altLang="en-GB" b="1"/>
              <a:t>Database Tables:</a:t>
            </a:r>
            <a:endParaRPr lang="en-US" altLang="en-GB" b="1"/>
          </a:p>
          <a:p>
            <a:pPr marL="0" indent="0">
              <a:buNone/>
            </a:pPr>
            <a:r>
              <a:rPr lang="en-US" altLang="en-GB"/>
              <a:t>• Admin</a:t>
            </a:r>
            <a:endParaRPr lang="en-US" altLang="en-GB"/>
          </a:p>
          <a:p>
            <a:pPr marL="0" indent="0">
              <a:buNone/>
            </a:pPr>
            <a:r>
              <a:rPr lang="en-US" altLang="en-GB"/>
              <a:t>• Students</a:t>
            </a:r>
            <a:endParaRPr lang="en-US" altLang="en-GB"/>
          </a:p>
          <a:p>
            <a:pPr marL="0" indent="0">
              <a:buNone/>
            </a:pPr>
            <a:r>
              <a:rPr lang="en-US" altLang="en-GB"/>
              <a:t>• Teachers</a:t>
            </a:r>
            <a:endParaRPr lang="en-US" altLang="en-GB"/>
          </a:p>
          <a:p>
            <a:pPr marL="0" indent="0">
              <a:buNone/>
            </a:pPr>
            <a:r>
              <a:rPr lang="en-US" altLang="en-GB"/>
              <a:t>• Attendance</a:t>
            </a:r>
            <a:endParaRPr lang="en-US" altLang="en-GB"/>
          </a:p>
          <a:p>
            <a:pPr marL="0" indent="0">
              <a:buNone/>
            </a:pPr>
            <a:r>
              <a:rPr lang="en-US" altLang="en-GB"/>
              <a:t>• Fees</a:t>
            </a:r>
            <a:endParaRPr lang="en-US" altLang="en-GB"/>
          </a:p>
          <a:p>
            <a:pPr marL="0" indent="0">
              <a:buNone/>
            </a:pPr>
            <a:r>
              <a:rPr lang="en-US" altLang="en-GB" b="1"/>
              <a:t>Relationships:</a:t>
            </a:r>
            <a:endParaRPr lang="en-US" altLang="en-GB" b="1"/>
          </a:p>
          <a:p>
            <a:pPr marL="0" indent="0">
              <a:buNone/>
            </a:pPr>
            <a:r>
              <a:rPr lang="en-US" altLang="en-GB"/>
              <a:t>• One Student </a:t>
            </a:r>
            <a:r>
              <a:rPr lang="en-US" altLang="en-US"/>
              <a:t>→</a:t>
            </a:r>
            <a:r>
              <a:rPr lang="en-US" altLang="en-GB"/>
              <a:t> Multiple Attendance Records</a:t>
            </a:r>
            <a:endParaRPr lang="en-US" altLang="en-GB"/>
          </a:p>
          <a:p>
            <a:pPr marL="0" indent="0">
              <a:buNone/>
            </a:pPr>
            <a:r>
              <a:rPr lang="en-US" altLang="en-GB"/>
              <a:t>• One Student </a:t>
            </a:r>
            <a:r>
              <a:rPr lang="en-US" altLang="en-US"/>
              <a:t>→</a:t>
            </a:r>
            <a:r>
              <a:rPr lang="en-US" altLang="en-GB"/>
              <a:t> Multiple Fee Records</a:t>
            </a:r>
            <a:endParaRPr lang="en-US" altLang="en-GB"/>
          </a:p>
          <a:p>
            <a:pPr marL="0" indent="0">
              <a:buNone/>
            </a:pPr>
            <a:r>
              <a:rPr lang="en-US" altLang="en-GB"/>
              <a:t>• Admin manages all modules</a:t>
            </a:r>
            <a:endParaRPr lang="en-US" altLang="en-GB"/>
          </a:p>
          <a:p>
            <a:pPr marL="0" indent="0">
              <a:buNone/>
            </a:pPr>
            <a:endParaRPr lang="en-US" altLang="en-GB"/>
          </a:p>
          <a:p>
            <a:pPr marL="0" indent="0">
              <a:buNone/>
            </a:pPr>
            <a:r>
              <a:rPr lang="en-US" altLang="en-GB"/>
              <a:t>Database is designed using primary keys and foreign keys to maintain referential integrity</a:t>
            </a:r>
            <a:endParaRPr lang="en-US" alt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en-IN" dirty="0"/>
              <a:t>.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 (At least 50%)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275"/>
            <a:ext cx="10861675" cy="4814570"/>
          </a:xfrm>
        </p:spPr>
        <p:txBody>
          <a:bodyPr>
            <a:normAutofit fontScale="45000"/>
          </a:bodyPr>
          <a:lstStyle/>
          <a:p>
            <a:pPr marL="0" indent="0">
              <a:buNone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Completed Features:</a:t>
            </a:r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</a:t>
            </a:r>
            <a:r>
              <a:rPr lang="en-US" alt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Database schema fully designed</a:t>
            </a:r>
            <a:endParaRPr lang="en-US" altLang="en-GB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</a:t>
            </a:r>
            <a:r>
              <a:rPr lang="en-US" alt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Student CRUD operations implemented</a:t>
            </a:r>
            <a:endParaRPr lang="en-US" altLang="en-GB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</a:t>
            </a:r>
            <a:r>
              <a:rPr lang="en-US" alt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Teacher CRUD operations implemented</a:t>
            </a:r>
            <a:endParaRPr lang="en-US" altLang="en-GB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</a:t>
            </a:r>
            <a:r>
              <a:rPr lang="en-US" alt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Admin login authentication working</a:t>
            </a:r>
            <a:endParaRPr lang="en-US" altLang="en-GB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</a:t>
            </a:r>
            <a:r>
              <a:rPr lang="en-US" alt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REST API endpoints created</a:t>
            </a:r>
            <a:endParaRPr lang="en-US" altLang="en-GB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</a:t>
            </a:r>
            <a:r>
              <a:rPr lang="en-US" alt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Frontend and backend integrated</a:t>
            </a:r>
            <a:endParaRPr lang="en-US" altLang="en-GB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</a:t>
            </a:r>
            <a:r>
              <a:rPr lang="en-US" alt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Attendance module partially implemented</a:t>
            </a:r>
            <a:endParaRPr lang="en-US" altLang="en-GB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</a:t>
            </a:r>
            <a:r>
              <a:rPr lang="en-US" alt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Fee management module implemented</a:t>
            </a:r>
            <a:endParaRPr lang="en-US" altLang="en-GB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Completion Status: Approximately 65%</a:t>
            </a:r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Remaining Work:</a:t>
            </a:r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Advanced reports</a:t>
            </a:r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UI enhancements</a:t>
            </a:r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Input validations</a:t>
            </a:r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Data visualization</a:t>
            </a:r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 Map</a:t>
            </a:r>
            <a:endParaRPr lang="en-US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  <p:sp>
        <p:nvSpPr>
          <p:cNvPr id="6" name="TextBox 5"/>
          <p:cNvSpPr txBox="1"/>
          <p:nvPr/>
        </p:nvSpPr>
        <p:spPr>
          <a:xfrm>
            <a:off x="470371" y="901298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 dirty="0">
              <a:solidFill>
                <a:srgbClr val="0070C0"/>
              </a:solidFill>
            </a:endParaRPr>
          </a:p>
        </p:txBody>
      </p:sp>
      <p:pic>
        <p:nvPicPr>
          <p:cNvPr id="22" name="Content Placeholder 21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780415" y="1269365"/>
            <a:ext cx="10515600" cy="4076700"/>
          </a:xfrm>
          <a:prstGeom prst="rect">
            <a:avLst/>
          </a:prstGeom>
        </p:spPr>
      </p:pic>
      <p:sp>
        <p:nvSpPr>
          <p:cNvPr id="23" name="Text Box 22"/>
          <p:cNvSpPr txBox="1"/>
          <p:nvPr/>
        </p:nvSpPr>
        <p:spPr>
          <a:xfrm>
            <a:off x="2867025" y="2160270"/>
            <a:ext cx="1268095" cy="12668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28600" indent="-228600">
              <a:buChar char="•"/>
            </a:pPr>
            <a:r>
              <a:rPr lang="en-US" sz="1000" dirty="0">
                <a:latin typeface="Times New Roman" panose="02020603050405020304"/>
                <a:cs typeface="Times New Roman" panose="02020603050405020304"/>
                <a:sym typeface="+mn-ea"/>
              </a:rPr>
              <a:t>Understanding Full Stack concepts</a:t>
            </a:r>
            <a:endParaRPr lang="en-US" sz="1000" dirty="0">
              <a:latin typeface="Times New Roman" panose="02020603050405020304"/>
              <a:cs typeface="Times New Roman" panose="02020603050405020304"/>
            </a:endParaRPr>
          </a:p>
          <a:p>
            <a:pPr marL="228600" indent="-228600">
              <a:buChar char="•"/>
            </a:pPr>
            <a:r>
              <a:rPr lang="en-US" sz="1000" dirty="0">
                <a:latin typeface="Times New Roman" panose="02020603050405020304"/>
                <a:cs typeface="Times New Roman" panose="02020603050405020304"/>
                <a:sym typeface="+mn-ea"/>
              </a:rPr>
              <a:t>Database schema design</a:t>
            </a:r>
            <a:endParaRPr lang="en-US" sz="1000" dirty="0">
              <a:latin typeface="Times New Roman" panose="02020603050405020304"/>
              <a:cs typeface="Times New Roman" panose="02020603050405020304"/>
            </a:endParaRPr>
          </a:p>
          <a:p>
            <a:pPr marL="228600" indent="-228600">
              <a:buChar char="•"/>
            </a:pPr>
            <a:r>
              <a:rPr lang="en-US" sz="1000" dirty="0">
                <a:latin typeface="Times New Roman" panose="02020603050405020304"/>
                <a:cs typeface="Times New Roman" panose="02020603050405020304"/>
                <a:sym typeface="+mn-ea"/>
              </a:rPr>
              <a:t>Basic CRUD implementation</a:t>
            </a:r>
            <a:endParaRPr lang="en-US" altLang="en-US" sz="1000" dirty="0">
              <a:latin typeface="Times New Roman" panose="02020603050405020304"/>
              <a:cs typeface="Times New Roman" panose="02020603050405020304"/>
              <a:sym typeface="+mn-ea"/>
            </a:endParaRPr>
          </a:p>
        </p:txBody>
      </p:sp>
      <p:sp>
        <p:nvSpPr>
          <p:cNvPr id="24" name="Text Box 23"/>
          <p:cNvSpPr txBox="1"/>
          <p:nvPr/>
        </p:nvSpPr>
        <p:spPr>
          <a:xfrm>
            <a:off x="4135120" y="2224405"/>
            <a:ext cx="1345565" cy="12033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28600" indent="-228600">
              <a:buChar char="•"/>
            </a:pP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Complete student management system</a:t>
            </a:r>
            <a:endParaRPr lang="en-US" sz="1000" dirty="0"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</a:endParaRPr>
          </a:p>
          <a:p>
            <a:pPr marL="228600" indent="-228600">
              <a:buChar char="•"/>
            </a:pP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Authentication system</a:t>
            </a:r>
            <a:endParaRPr lang="en-US" sz="1000" dirty="0"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</a:endParaRPr>
          </a:p>
          <a:p>
            <a:pPr marL="228600" indent="-228600">
              <a:buChar char="•"/>
            </a:pP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Full frontend-backend integration</a:t>
            </a:r>
            <a:endParaRPr lang="en-US" altLang="en-US" sz="10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25" name="Text Box 24"/>
          <p:cNvSpPr txBox="1"/>
          <p:nvPr/>
        </p:nvSpPr>
        <p:spPr>
          <a:xfrm>
            <a:off x="5384800" y="2152015"/>
            <a:ext cx="1254760" cy="12757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 sz="1000"/>
              <a:t>• Teacher module completion</a:t>
            </a:r>
            <a:endParaRPr lang="en-US" altLang="en-GB" sz="1000"/>
          </a:p>
          <a:p>
            <a:r>
              <a:rPr lang="en-US" altLang="en-GB" sz="1000"/>
              <a:t>• Attendance system integration</a:t>
            </a:r>
            <a:endParaRPr lang="en-US" altLang="en-GB" sz="1000"/>
          </a:p>
          <a:p>
            <a:r>
              <a:rPr lang="en-US" altLang="en-GB" sz="1000"/>
              <a:t>• Fee management implementation</a:t>
            </a:r>
            <a:endParaRPr lang="en-US" altLang="en-GB" sz="1000"/>
          </a:p>
          <a:p>
            <a:r>
              <a:rPr lang="en-US" altLang="en-GB" sz="1000"/>
              <a:t>• System architecture finalization</a:t>
            </a:r>
            <a:endParaRPr lang="en-US" altLang="en-GB" sz="1000"/>
          </a:p>
          <a:p>
            <a:r>
              <a:rPr lang="en-US" altLang="en-GB" sz="1000"/>
              <a:t>• 60–70% project completion</a:t>
            </a:r>
            <a:endParaRPr lang="en-US" altLang="en-GB" sz="10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  <a:endParaRPr lang="en-US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08" y="1061297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en-IN" dirty="0">
                <a:sym typeface="+mn-ea"/>
              </a:rPr>
              <a:t>URL:</a:t>
            </a:r>
            <a:r>
              <a:rPr lang="en-US" altLang="en-IN" dirty="0">
                <a:sym typeface="+mn-ea"/>
                <a:hlinkClick r:id="rId1" action="ppaction://hlinkfile"/>
              </a:rPr>
              <a:t> https://github.com/campuscore-erp/CampusCore</a:t>
            </a:r>
            <a:endParaRPr lang="en-US" altLang="en-IN" dirty="0"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  <a:solidFill>
            <a:schemeClr val="accent1">
              <a:lumMod val="50000"/>
            </a:schemeClr>
          </a:solidFill>
        </p:spPr>
        <p:txBody>
          <a:bodyPr/>
          <a:lstStyle/>
          <a:p>
            <a:pPr marL="0" indent="0" algn="ctr">
              <a:buNone/>
            </a:pPr>
            <a:endParaRPr lang="en-US" sz="6600" dirty="0" smtClean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6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dirty="0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dirty="0" smtClean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  <a:endParaRPr lang="en-US" sz="6600" dirty="0" smtClean="0">
              <a:solidFill>
                <a:schemeClr val="accent2">
                  <a:lumMod val="40000"/>
                  <a:lumOff val="6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7" descr="bd04924_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253" y="2150340"/>
            <a:ext cx="2841170" cy="3832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47258"/>
            <a:ext cx="10515600" cy="1214846"/>
          </a:xfrm>
        </p:spPr>
        <p:txBody>
          <a:bodyPr/>
          <a:lstStyle/>
          <a:p>
            <a:pPr marL="0" indent="0" algn="ctr">
              <a:buNone/>
            </a:pPr>
            <a:r>
              <a:rPr lang="en-US" sz="6600" dirty="0" smtClean="0">
                <a:solidFill>
                  <a:srgbClr val="A711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!!</a:t>
            </a: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5156</Words>
  <Application>WPS Presentation</Application>
  <PresentationFormat>Widescreen</PresentationFormat>
  <Paragraphs>262</Paragraphs>
  <Slides>18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34" baseType="lpstr">
      <vt:lpstr>Arial</vt:lpstr>
      <vt:lpstr>SimSun</vt:lpstr>
      <vt:lpstr>Wingdings</vt:lpstr>
      <vt:lpstr>Arial</vt:lpstr>
      <vt:lpstr>Cambria</vt:lpstr>
      <vt:lpstr>Verdana</vt:lpstr>
      <vt:lpstr>Cambria</vt:lpstr>
      <vt:lpstr>Times New Roman</vt:lpstr>
      <vt:lpstr>Times New Roman</vt:lpstr>
      <vt:lpstr>Tahoma</vt:lpstr>
      <vt:lpstr>Tahoma</vt:lpstr>
      <vt:lpstr>Calibri</vt:lpstr>
      <vt:lpstr>Microsoft YaHei</vt:lpstr>
      <vt:lpstr>Arial Unicode MS</vt:lpstr>
      <vt:lpstr>Calibri Light</vt:lpstr>
      <vt:lpstr>Office Theme</vt:lpstr>
      <vt:lpstr>PowerPoint 演示文稿</vt:lpstr>
      <vt:lpstr>Content</vt:lpstr>
      <vt:lpstr>About Company or Organization</vt:lpstr>
      <vt:lpstr>Working domain or the technology</vt:lpstr>
      <vt:lpstr>About your team and reporting Manager</vt:lpstr>
      <vt:lpstr>Challenges Faced in Internship</vt:lpstr>
      <vt:lpstr>Objectives of the work</vt:lpstr>
      <vt:lpstr>Literature Review</vt:lpstr>
      <vt:lpstr>Proposed System / Work</vt:lpstr>
      <vt:lpstr>Problem Statement</vt:lpstr>
      <vt:lpstr>System Requirements</vt:lpstr>
      <vt:lpstr>System Design</vt:lpstr>
      <vt:lpstr>System Design</vt:lpstr>
      <vt:lpstr>System Implementation (At least 50%)</vt:lpstr>
      <vt:lpstr>Internship Road Map</vt:lpstr>
      <vt:lpstr>Github Link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Gopalakrishnan N-Asst. Prof-CIV</dc:creator>
  <cp:lastModifiedBy>Appu</cp:lastModifiedBy>
  <cp:revision>724</cp:revision>
  <dcterms:created xsi:type="dcterms:W3CDTF">2022-10-14T07:18:00Z</dcterms:created>
  <dcterms:modified xsi:type="dcterms:W3CDTF">2026-04-23T10:06:49Z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BCE69C7EE1AD46FB872CBB594B321F83_13</vt:lpwstr>
  </property>
  <property fmtid="{D5CDD505-2E9C-101B-9397-08002B2CF9AE}" pid="3" name="KSOProductBuildVer">
    <vt:lpwstr>2057-12.2.0.23202</vt:lpwstr>
  </property>
</Properties>
</file>